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Roboto"/>
      <p:regular r:id="rId29"/>
      <p:bold r:id="rId30"/>
      <p:italic r:id="rId31"/>
      <p:boldItalic r:id="rId32"/>
    </p:embeddedFont>
    <p:embeddedFont>
      <p:font typeface="Roboto Light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6.xml"/><Relationship Id="rId33" Type="http://schemas.openxmlformats.org/officeDocument/2006/relationships/font" Target="fonts/RobotoLight-regular.fntdata"/><Relationship Id="rId10" Type="http://schemas.openxmlformats.org/officeDocument/2006/relationships/slide" Target="slides/slide5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8.xml"/><Relationship Id="rId35" Type="http://schemas.openxmlformats.org/officeDocument/2006/relationships/font" Target="fonts/RobotoLight-italic.fntdata"/><Relationship Id="rId12" Type="http://schemas.openxmlformats.org/officeDocument/2006/relationships/slide" Target="slides/slide7.xml"/><Relationship Id="rId34" Type="http://schemas.openxmlformats.org/officeDocument/2006/relationships/font" Target="fonts/RobotoLight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RobotoLight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71fc56cd7_0_5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71fc56cd7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971fc56cd7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5a2152039_0_302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5a2152039_0_221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5a2152039_0_372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5a2152039_0_386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5a2152039_0_401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5a2152039_0_416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5a2152039_0_431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d5a2152039_0_446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5a2152039_0_475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d5a2152039_0_332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5a2152039_0_490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d5a2152039_0_504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d5a2152039_0_519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d5a2152039_0_549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d5a2152039_0_564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d5a2152039_0_598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d5a2152039_0_620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d5a2152039_0_630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d5a2152039_0_633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971fc56cd7_0_82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d5a2152039_0_21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971fe0d11f_5_0)">
  <p:cSld name="Generated (g3971fe0d11f_5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(g3971fe0d11f_25_0)">
  <p:cSld name="Título y cuerpo (g3971fe0d11f_25_0)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(g3971fe0d11f_25_0) (g3971fe0d11f_39_0)">
  <p:cSld name="Título y cuerpo (g3971fe0d11f_25_0) (g3971fe0d11f_39_0)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8.jpg"/><Relationship Id="rId4" Type="http://schemas.openxmlformats.org/officeDocument/2006/relationships/image" Target="../media/image36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2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2.png"/><Relationship Id="rId4" Type="http://schemas.openxmlformats.org/officeDocument/2006/relationships/image" Target="../media/image5.png"/><Relationship Id="rId5" Type="http://schemas.openxmlformats.org/officeDocument/2006/relationships/image" Target="../media/image2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2.png"/><Relationship Id="rId4" Type="http://schemas.openxmlformats.org/officeDocument/2006/relationships/image" Target="../media/image5.png"/><Relationship Id="rId5" Type="http://schemas.openxmlformats.org/officeDocument/2006/relationships/image" Target="../media/image16.png"/><Relationship Id="rId6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2.png"/><Relationship Id="rId4" Type="http://schemas.openxmlformats.org/officeDocument/2006/relationships/image" Target="../media/image21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2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2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2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2.png"/><Relationship Id="rId4" Type="http://schemas.openxmlformats.org/officeDocument/2006/relationships/image" Target="../media/image5.png"/><Relationship Id="rId5" Type="http://schemas.openxmlformats.org/officeDocument/2006/relationships/image" Target="../media/image54.png"/><Relationship Id="rId6" Type="http://schemas.openxmlformats.org/officeDocument/2006/relationships/image" Target="../media/image35.png"/><Relationship Id="rId7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2.png"/><Relationship Id="rId4" Type="http://schemas.openxmlformats.org/officeDocument/2006/relationships/image" Target="../media/image56.png"/><Relationship Id="rId5" Type="http://schemas.openxmlformats.org/officeDocument/2006/relationships/image" Target="../media/image51.png"/><Relationship Id="rId6" Type="http://schemas.openxmlformats.org/officeDocument/2006/relationships/image" Target="../media/image57.png"/><Relationship Id="rId7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2.png"/><Relationship Id="rId4" Type="http://schemas.openxmlformats.org/officeDocument/2006/relationships/image" Target="../media/image31.png"/><Relationship Id="rId5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2.png"/><Relationship Id="rId4" Type="http://schemas.openxmlformats.org/officeDocument/2006/relationships/image" Target="../media/image5.png"/><Relationship Id="rId5" Type="http://schemas.openxmlformats.org/officeDocument/2006/relationships/image" Target="../media/image5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2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2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2.pn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2.png"/><Relationship Id="rId4" Type="http://schemas.openxmlformats.org/officeDocument/2006/relationships/image" Target="../media/image5.png"/><Relationship Id="rId5" Type="http://schemas.openxmlformats.org/officeDocument/2006/relationships/image" Target="../media/image4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2.png"/><Relationship Id="rId4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2.png"/><Relationship Id="rId4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2.png"/><Relationship Id="rId4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2.png"/><Relationship Id="rId4" Type="http://schemas.openxmlformats.org/officeDocument/2006/relationships/image" Target="../media/image5.png"/><Relationship Id="rId5" Type="http://schemas.openxmlformats.org/officeDocument/2006/relationships/image" Target="../media/image53.png"/><Relationship Id="rId6" Type="http://schemas.openxmlformats.org/officeDocument/2006/relationships/hyperlink" Target="https://lookerstudio.google.com/reporting/e2cbb91e-617c-4856-b916-3bd93b185a20/page/IFetF/edit?s=lkVEKRrzvAQ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2.png"/><Relationship Id="rId4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2.png"/><Relationship Id="rId4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/>
        </p:nvSpPr>
        <p:spPr>
          <a:xfrm>
            <a:off x="762000" y="-194400"/>
            <a:ext cx="7620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2400">
                <a:solidFill>
                  <a:schemeClr val="lt2"/>
                </a:solidFill>
                <a:latin typeface="Roboto Light"/>
                <a:ea typeface="Roboto Light"/>
                <a:cs typeface="Roboto Light"/>
                <a:sym typeface="Roboto Light"/>
              </a:rPr>
              <a:t>Detección de Anomalías UEBA y Monitoreo de Vulnerabilidades</a:t>
            </a:r>
            <a:endParaRPr b="0" sz="1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3" name="Google Shape;6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05750" y="285750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Sección I: Introducción </a:t>
            </a:r>
            <a:endParaRPr/>
          </a:p>
        </p:txBody>
      </p:sp>
      <p:pic>
        <p:nvPicPr>
          <p:cNvPr id="65" name="Google Shape;6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94848" y="4095750"/>
            <a:ext cx="1116501" cy="1010723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6"/>
          <p:cNvSpPr txBox="1"/>
          <p:nvPr/>
        </p:nvSpPr>
        <p:spPr>
          <a:xfrm>
            <a:off x="430600" y="460897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rPr>
              <a:t>Alexis Pacek</a:t>
            </a:r>
            <a:endParaRPr sz="1600">
              <a:solidFill>
                <a:srgbClr val="81D4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4847" y="4095750"/>
            <a:ext cx="1116600" cy="1010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 txBox="1"/>
          <p:nvPr/>
        </p:nvSpPr>
        <p:spPr>
          <a:xfrm>
            <a:off x="381000" y="381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El Desafío Técnico</a:t>
            </a:r>
            <a:endParaRPr b="0" sz="3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74" name="Google Shape;74;p17"/>
          <p:cNvGrpSpPr/>
          <p:nvPr/>
        </p:nvGrpSpPr>
        <p:grpSpPr>
          <a:xfrm>
            <a:off x="381000" y="1524000"/>
            <a:ext cx="8382150" cy="2286000"/>
            <a:chOff x="381000" y="1524000"/>
            <a:chExt cx="8382150" cy="2286000"/>
          </a:xfrm>
        </p:grpSpPr>
        <p:sp>
          <p:nvSpPr>
            <p:cNvPr id="75" name="Google Shape;75;p17"/>
            <p:cNvSpPr/>
            <p:nvPr/>
          </p:nvSpPr>
          <p:spPr>
            <a:xfrm>
              <a:off x="381000" y="1524000"/>
              <a:ext cx="4095900" cy="2286000"/>
            </a:xfrm>
            <a:prstGeom prst="roundRect">
              <a:avLst>
                <a:gd fmla="val 6250" name="adj"/>
              </a:avLst>
            </a:prstGeom>
            <a:solidFill>
              <a:srgbClr val="112240"/>
            </a:solidFill>
            <a:ln cap="flat" cmpd="sng" w="1905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7"/>
            <p:cNvSpPr txBox="1"/>
            <p:nvPr/>
          </p:nvSpPr>
          <p:spPr>
            <a:xfrm>
              <a:off x="571500" y="1714500"/>
              <a:ext cx="3714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Problema 1: UEBA</a:t>
              </a:r>
              <a:endParaRPr b="1" sz="20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7" name="Google Shape;77;p17"/>
            <p:cNvSpPr txBox="1"/>
            <p:nvPr/>
          </p:nvSpPr>
          <p:spPr>
            <a:xfrm>
              <a:off x="571500" y="2190750"/>
              <a:ext cx="3714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14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User Entity Behavior Analytics para identificar logins sospechosos mediante estadística y ML.</a:t>
              </a:r>
              <a:endParaRPr b="0" sz="14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s" sz="4000">
                  <a:solidFill>
                    <a:srgbClr val="81D4F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b="0" sz="4000">
                <a:solidFill>
                  <a:srgbClr val="81D4F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8" name="Google Shape;78;p17"/>
            <p:cNvSpPr/>
            <p:nvPr/>
          </p:nvSpPr>
          <p:spPr>
            <a:xfrm>
              <a:off x="4667250" y="1524000"/>
              <a:ext cx="4095900" cy="2286000"/>
            </a:xfrm>
            <a:prstGeom prst="roundRect">
              <a:avLst>
                <a:gd fmla="val 6250" name="adj"/>
              </a:avLst>
            </a:prstGeom>
            <a:solidFill>
              <a:srgbClr val="112240"/>
            </a:solidFill>
            <a:ln cap="flat" cmpd="sng" w="19050">
              <a:solidFill>
                <a:srgbClr val="F44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7"/>
            <p:cNvSpPr txBox="1"/>
            <p:nvPr/>
          </p:nvSpPr>
          <p:spPr>
            <a:xfrm>
              <a:off x="4857750" y="1714500"/>
              <a:ext cx="3714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F44336"/>
                  </a:solidFill>
                  <a:latin typeface="Roboto"/>
                  <a:ea typeface="Roboto"/>
                  <a:cs typeface="Roboto"/>
                  <a:sym typeface="Roboto"/>
                </a:rPr>
                <a:t>Problema 2: CVE &amp; Scraping</a:t>
              </a:r>
              <a:endParaRPr b="1" sz="2000">
                <a:solidFill>
                  <a:srgbClr val="F4433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0" name="Google Shape;80;p17"/>
            <p:cNvSpPr txBox="1"/>
            <p:nvPr/>
          </p:nvSpPr>
          <p:spPr>
            <a:xfrm>
              <a:off x="4857750" y="2190750"/>
              <a:ext cx="3714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14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Web Scraping automatizado de CVEs (últimos 3 meses) y visualización en Looker Studio.</a:t>
              </a:r>
              <a:endParaRPr b="0" sz="14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s" sz="4000">
                  <a:solidFill>
                    <a:srgbClr val="F4433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dashboard</a:t>
              </a:r>
              <a:endParaRPr b="0" sz="4000">
                <a:solidFill>
                  <a:srgbClr val="F4433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pic>
          <p:nvPicPr>
            <p:cNvPr id="81" name="Google Shape;81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76750" y="2657475"/>
              <a:ext cx="190500" cy="19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296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Dataset y Calidad de los Datos</a:t>
            </a:r>
            <a:endParaRPr b="0" sz="296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6" name="Google Shape;86;p18"/>
          <p:cNvSpPr/>
          <p:nvPr/>
        </p:nvSpPr>
        <p:spPr>
          <a:xfrm>
            <a:off x="381000" y="1285875"/>
            <a:ext cx="4095900" cy="1571700"/>
          </a:xfrm>
          <a:prstGeom prst="roundRect">
            <a:avLst>
              <a:gd fmla="val 9090" name="adj"/>
            </a:avLst>
          </a:prstGeom>
          <a:solidFill>
            <a:srgbClr val="112240"/>
          </a:solidFill>
          <a:ln cap="flat" cmpd="sng" w="14300">
            <a:solidFill>
              <a:srgbClr val="81D4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/>
        </p:nvSpPr>
        <p:spPr>
          <a:xfrm>
            <a:off x="571500" y="1428750"/>
            <a:ext cx="3714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rPr>
              <a:t>Descripción del dataset</a:t>
            </a:r>
            <a:endParaRPr b="1" sz="1800">
              <a:solidFill>
                <a:srgbClr val="81D4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8"/>
          <p:cNvSpPr txBox="1"/>
          <p:nvPr/>
        </p:nvSpPr>
        <p:spPr>
          <a:xfrm>
            <a:off x="571500" y="1762125"/>
            <a:ext cx="37149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018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rPr>
              <a:t>Ingesta y validación del archivo </a:t>
            </a:r>
            <a:r>
              <a:rPr b="1" lang="es" sz="1018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rPr>
              <a:t>user_logins.csv</a:t>
            </a:r>
            <a:r>
              <a:rPr b="0" lang="es" sz="1018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rPr>
              <a:t>, que registra la actividad histórica de accesos a la plataforma.</a:t>
            </a:r>
            <a:endParaRPr b="0" sz="1018">
              <a:solidFill>
                <a:srgbClr val="CCD6F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4667250" y="1285875"/>
            <a:ext cx="4095900" cy="1571700"/>
          </a:xfrm>
          <a:prstGeom prst="roundRect">
            <a:avLst>
              <a:gd fmla="val 9090" name="adj"/>
            </a:avLst>
          </a:prstGeom>
          <a:solidFill>
            <a:srgbClr val="112240"/>
          </a:solidFill>
          <a:ln cap="flat" cmpd="sng" w="14300">
            <a:solidFill>
              <a:srgbClr val="81D4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/>
        </p:nvSpPr>
        <p:spPr>
          <a:xfrm>
            <a:off x="4857750" y="1428750"/>
            <a:ext cx="37149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rPr>
              <a:t>Features</a:t>
            </a:r>
            <a:endParaRPr b="1" sz="1800">
              <a:solidFill>
                <a:srgbClr val="81D4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1" name="Google Shape;91;p18"/>
          <p:cNvGrpSpPr/>
          <p:nvPr/>
        </p:nvGrpSpPr>
        <p:grpSpPr>
          <a:xfrm>
            <a:off x="4857750" y="1809750"/>
            <a:ext cx="3714600" cy="904950"/>
            <a:chOff x="4857750" y="1809750"/>
            <a:chExt cx="3714600" cy="904950"/>
          </a:xfrm>
        </p:grpSpPr>
        <p:sp>
          <p:nvSpPr>
            <p:cNvPr id="92" name="Google Shape;92;p18"/>
            <p:cNvSpPr txBox="1"/>
            <p:nvPr/>
          </p:nvSpPr>
          <p:spPr>
            <a:xfrm>
              <a:off x="4857750" y="1809750"/>
              <a:ext cx="18096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018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login_time</a:t>
              </a:r>
              <a:endParaRPr b="1" sz="1018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Timestamp del evento.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3" name="Google Shape;93;p18"/>
            <p:cNvSpPr txBox="1"/>
            <p:nvPr/>
          </p:nvSpPr>
          <p:spPr>
            <a:xfrm>
              <a:off x="6762750" y="1809750"/>
              <a:ext cx="18096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018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user_id</a:t>
              </a:r>
              <a:endParaRPr b="1" sz="1018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Identificador único del usuario (eje central para el perfilado).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4" name="Google Shape;94;p18"/>
            <p:cNvSpPr txBox="1"/>
            <p:nvPr/>
          </p:nvSpPr>
          <p:spPr>
            <a:xfrm>
              <a:off x="4857750" y="2286000"/>
              <a:ext cx="18096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018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ip_address</a:t>
              </a:r>
              <a:endParaRPr b="1" sz="1018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Dirección de origen.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5" name="Google Shape;95;p18"/>
            <p:cNvSpPr txBox="1"/>
            <p:nvPr/>
          </p:nvSpPr>
          <p:spPr>
            <a:xfrm>
              <a:off x="6762750" y="2286000"/>
              <a:ext cx="18096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018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device_type</a:t>
              </a:r>
              <a:endParaRPr b="1" sz="1018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Categorización del hardware.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6" name="Google Shape;96;p18"/>
          <p:cNvSpPr/>
          <p:nvPr/>
        </p:nvSpPr>
        <p:spPr>
          <a:xfrm>
            <a:off x="381000" y="3000375"/>
            <a:ext cx="2667000" cy="952500"/>
          </a:xfrm>
          <a:prstGeom prst="roundRect">
            <a:avLst>
              <a:gd fmla="val 15000" name="adj"/>
            </a:avLst>
          </a:prstGeom>
          <a:solidFill>
            <a:srgbClr val="112240"/>
          </a:solidFill>
          <a:ln cap="flat" cmpd="sng" w="14300">
            <a:solidFill>
              <a:srgbClr val="81D4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8"/>
          <p:cNvSpPr txBox="1"/>
          <p:nvPr/>
        </p:nvSpPr>
        <p:spPr>
          <a:xfrm>
            <a:off x="571500" y="314325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rPr>
              <a:t>18941</a:t>
            </a:r>
            <a:endParaRPr b="1" sz="2400">
              <a:solidFill>
                <a:srgbClr val="81D4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571500" y="3571875"/>
            <a:ext cx="2286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rPr>
              <a:t>Volumen y Estructura</a:t>
            </a:r>
            <a:endParaRPr b="1" sz="850">
              <a:solidFill>
                <a:srgbClr val="CCD6F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765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rPr>
              <a:t>100,000 registros. Conversión datetime de alta precisión.</a:t>
            </a:r>
            <a:endParaRPr b="0" sz="765">
              <a:solidFill>
                <a:srgbClr val="CCD6F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3429000" y="3000375"/>
            <a:ext cx="5334000" cy="952500"/>
          </a:xfrm>
          <a:prstGeom prst="roundRect">
            <a:avLst>
              <a:gd fmla="val 15000" name="adj"/>
            </a:avLst>
          </a:prstGeom>
          <a:solidFill>
            <a:srgbClr val="112240"/>
          </a:solidFill>
          <a:ln cap="flat" cmpd="sng" w="14300">
            <a:solidFill>
              <a:srgbClr val="F443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 txBox="1"/>
          <p:nvPr/>
        </p:nvSpPr>
        <p:spPr>
          <a:xfrm>
            <a:off x="3905250" y="3095625"/>
            <a:ext cx="46674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18">
                <a:solidFill>
                  <a:srgbClr val="F44336"/>
                </a:solidFill>
                <a:latin typeface="Roboto"/>
                <a:ea typeface="Roboto"/>
                <a:cs typeface="Roboto"/>
                <a:sym typeface="Roboto"/>
              </a:rPr>
              <a:t>Garantía de Integridad: </a:t>
            </a:r>
            <a:r>
              <a:rPr b="0" lang="es" sz="1018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rPr>
              <a:t>0% de valores faltantes en columnas críticas originales.</a:t>
            </a:r>
            <a:endParaRPr b="1" sz="1018">
              <a:solidFill>
                <a:srgbClr val="F4433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i="1" lang="es" sz="10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rPr>
              <a:t>Tratamiento de Nulos Técnicos:</a:t>
            </a:r>
            <a:r>
              <a:rPr b="0" lang="es" sz="10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rPr>
              <a:t> Manejo proactivo de NaNs en </a:t>
            </a:r>
            <a:r>
              <a:rPr b="0" i="1" lang="es" sz="10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rPr>
              <a:t>time_diff</a:t>
            </a:r>
            <a:r>
              <a:rPr b="0" lang="es" sz="10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rPr>
              <a:t> resuelto mediante mediana.</a:t>
            </a:r>
            <a:endParaRPr b="0" sz="1000">
              <a:solidFill>
                <a:srgbClr val="CCD6F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 rotWithShape="1">
          <a:blip r:embed="rId4">
            <a:alphaModFix/>
          </a:blip>
          <a:srcRect b="-100" l="0" r="-110" t="0"/>
          <a:stretch/>
        </p:blipFill>
        <p:spPr>
          <a:xfrm>
            <a:off x="7686675" y="4095750"/>
            <a:ext cx="1116600" cy="101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49850" y="4095675"/>
            <a:ext cx="2825476" cy="88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Análisis Exploratorio (EDA)</a:t>
            </a:r>
            <a:endParaRPr b="0" sz="3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707400" y="1091925"/>
            <a:ext cx="5148000" cy="1864200"/>
          </a:xfrm>
          <a:prstGeom prst="roundRect">
            <a:avLst>
              <a:gd fmla="val 6521" name="adj"/>
            </a:avLst>
          </a:prstGeom>
          <a:solidFill>
            <a:srgbClr val="112240"/>
          </a:solidFill>
          <a:ln cap="flat" cmpd="sng" w="13325">
            <a:solidFill>
              <a:srgbClr val="81D4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09" name="Google Shape;109;p19"/>
          <p:cNvSpPr txBox="1"/>
          <p:nvPr/>
        </p:nvSpPr>
        <p:spPr>
          <a:xfrm>
            <a:off x="884918" y="1225063"/>
            <a:ext cx="47931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77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rPr>
              <a:t>Análisis </a:t>
            </a:r>
            <a:endParaRPr b="1" sz="1677">
              <a:solidFill>
                <a:srgbClr val="81D4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884918" y="1535721"/>
            <a:ext cx="22191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25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rPr>
              <a:t>Patrones Temporales</a:t>
            </a:r>
            <a:endParaRPr b="1" sz="1025">
              <a:solidFill>
                <a:srgbClr val="81D4F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25">
              <a:solidFill>
                <a:srgbClr val="81D4F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025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rPr>
              <a:t>Horarios habituales (nocturnos) vs. accesos atípicos.</a:t>
            </a:r>
            <a:endParaRPr b="0" sz="1025">
              <a:solidFill>
                <a:srgbClr val="CCD6F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3281408" y="1535721"/>
            <a:ext cx="22191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25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rPr>
              <a:t>Frecuencia de Logins</a:t>
            </a:r>
            <a:endParaRPr b="1" sz="1025">
              <a:solidFill>
                <a:srgbClr val="81D4F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025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rPr>
              <a:t>Distribución por usuario: actividad regular vs. intensa.</a:t>
            </a:r>
            <a:endParaRPr b="0" sz="1025">
              <a:solidFill>
                <a:srgbClr val="CCD6F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884918" y="2334554"/>
            <a:ext cx="22191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25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rPr>
              <a:t>Tiempo entre Sesiones</a:t>
            </a:r>
            <a:endParaRPr b="1" sz="1025">
              <a:solidFill>
                <a:srgbClr val="81D4F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025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rPr>
              <a:t>Detección de ráfagas y logins anormalmente rápidos.</a:t>
            </a:r>
            <a:endParaRPr b="0" sz="1025">
              <a:solidFill>
                <a:srgbClr val="CCD6F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3281408" y="2334554"/>
            <a:ext cx="22191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25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rPr>
              <a:t>IPs y Dispositivos</a:t>
            </a:r>
            <a:endParaRPr b="1" sz="1025">
              <a:solidFill>
                <a:srgbClr val="81D4F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025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rPr>
              <a:t>Análisis de recurrencia histórica vs. cambios.</a:t>
            </a:r>
            <a:endParaRPr b="0" sz="1025">
              <a:solidFill>
                <a:srgbClr val="CCD6F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6096000" y="1238250"/>
            <a:ext cx="2667000" cy="1428900"/>
          </a:xfrm>
          <a:prstGeom prst="roundRect">
            <a:avLst>
              <a:gd fmla="val 10000" name="adj"/>
            </a:avLst>
          </a:prstGeom>
          <a:solidFill>
            <a:srgbClr val="112240"/>
          </a:solidFill>
          <a:ln cap="flat" cmpd="sng" w="14300">
            <a:solidFill>
              <a:srgbClr val="F443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9"/>
          <p:cNvSpPr txBox="1"/>
          <p:nvPr/>
        </p:nvSpPr>
        <p:spPr>
          <a:xfrm>
            <a:off x="6238875" y="1381125"/>
            <a:ext cx="2381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44336"/>
                </a:solidFill>
                <a:latin typeface="Roboto"/>
                <a:ea typeface="Roboto"/>
                <a:cs typeface="Roboto"/>
                <a:sym typeface="Roboto"/>
              </a:rPr>
              <a:t> Hallazgos</a:t>
            </a:r>
            <a:endParaRPr b="1" sz="1800">
              <a:solidFill>
                <a:srgbClr val="F4433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6238875" y="1714500"/>
            <a:ext cx="2381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7338" lvl="0" marL="457200" rtl="0" algn="l">
              <a:spcBef>
                <a:spcPts val="600"/>
              </a:spcBef>
              <a:spcAft>
                <a:spcPts val="0"/>
              </a:spcAft>
              <a:buClr>
                <a:srgbClr val="CCD6F6"/>
              </a:buClr>
              <a:buSzPts val="925"/>
              <a:buFont typeface="Roboto"/>
              <a:buChar char="●"/>
            </a:pPr>
            <a:r>
              <a:rPr b="0" lang="es" sz="925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rPr>
              <a:t>Comportamiento dependiente del usuario (no global).</a:t>
            </a:r>
            <a:endParaRPr b="0" sz="925">
              <a:solidFill>
                <a:srgbClr val="CCD6F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7338" lvl="0" marL="457200" rtl="0" algn="l">
              <a:spcBef>
                <a:spcPts val="300"/>
              </a:spcBef>
              <a:spcAft>
                <a:spcPts val="0"/>
              </a:spcAft>
              <a:buClr>
                <a:srgbClr val="CCD6F6"/>
              </a:buClr>
              <a:buSzPts val="925"/>
              <a:buFont typeface="Roboto"/>
              <a:buChar char="●"/>
            </a:pPr>
            <a:r>
              <a:rPr b="0" lang="es" sz="925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rPr>
              <a:t>Patrones temporales cíclicos .</a:t>
            </a:r>
            <a:endParaRPr b="0" sz="925">
              <a:solidFill>
                <a:srgbClr val="CCD6F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7338" lvl="0" marL="457200" rtl="0" algn="l">
              <a:spcBef>
                <a:spcPts val="300"/>
              </a:spcBef>
              <a:spcAft>
                <a:spcPts val="300"/>
              </a:spcAft>
              <a:buClr>
                <a:srgbClr val="CCD6F6"/>
              </a:buClr>
              <a:buSzPts val="925"/>
              <a:buFont typeface="Roboto"/>
              <a:buChar char="●"/>
            </a:pPr>
            <a:r>
              <a:rPr b="0" lang="es" sz="925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rPr>
              <a:t>Desviaciones modelables.</a:t>
            </a:r>
            <a:endParaRPr b="0" sz="925">
              <a:solidFill>
                <a:srgbClr val="CCD6F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6096000" y="2809875"/>
            <a:ext cx="2667000" cy="1381200"/>
          </a:xfrm>
          <a:prstGeom prst="roundRect">
            <a:avLst>
              <a:gd fmla="val 10344" name="adj"/>
            </a:avLst>
          </a:prstGeom>
          <a:solidFill>
            <a:srgbClr val="112240"/>
          </a:solidFill>
          <a:ln cap="flat" cmpd="sng" w="14300">
            <a:solidFill>
              <a:srgbClr val="81D4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9"/>
          <p:cNvSpPr txBox="1"/>
          <p:nvPr/>
        </p:nvSpPr>
        <p:spPr>
          <a:xfrm>
            <a:off x="6238875" y="2952750"/>
            <a:ext cx="2381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rPr>
              <a:t> Impacto</a:t>
            </a:r>
            <a:endParaRPr b="1" sz="1800">
              <a:solidFill>
                <a:srgbClr val="81D4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6238875" y="3286125"/>
            <a:ext cx="2381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925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rPr>
              <a:t>Enfoque UEBA validado. Uso de percentiles individuales. Base para diseño de features.</a:t>
            </a:r>
            <a:endParaRPr b="0" sz="925">
              <a:solidFill>
                <a:srgbClr val="CCD6F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0" name="Google Shape;120;p19"/>
          <p:cNvPicPr preferRelativeResize="0"/>
          <p:nvPr/>
        </p:nvPicPr>
        <p:blipFill rotWithShape="1">
          <a:blip r:embed="rId4">
            <a:alphaModFix/>
          </a:blip>
          <a:srcRect b="0" l="40" r="40" t="0"/>
          <a:stretch/>
        </p:blipFill>
        <p:spPr>
          <a:xfrm>
            <a:off x="7686675" y="4095750"/>
            <a:ext cx="1114500" cy="10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4175" y="2956125"/>
            <a:ext cx="2219101" cy="1692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34175" y="3044650"/>
            <a:ext cx="2275649" cy="1648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Feature Engineering: Señales Temporales</a:t>
            </a:r>
            <a:endParaRPr b="0" sz="3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127" name="Google Shape;127;p20"/>
          <p:cNvGrpSpPr/>
          <p:nvPr/>
        </p:nvGrpSpPr>
        <p:grpSpPr>
          <a:xfrm>
            <a:off x="381000" y="1143000"/>
            <a:ext cx="4095900" cy="1905000"/>
            <a:chOff x="0" y="0"/>
            <a:chExt cx="4095900" cy="1905000"/>
          </a:xfrm>
        </p:grpSpPr>
        <p:sp>
          <p:nvSpPr>
            <p:cNvPr id="128" name="Google Shape;128;p20"/>
            <p:cNvSpPr/>
            <p:nvPr/>
          </p:nvSpPr>
          <p:spPr>
            <a:xfrm>
              <a:off x="0" y="0"/>
              <a:ext cx="4095900" cy="1905000"/>
            </a:xfrm>
            <a:prstGeom prst="roundRect">
              <a:avLst>
                <a:gd fmla="val 7500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0"/>
            <p:cNvSpPr txBox="1"/>
            <p:nvPr/>
          </p:nvSpPr>
          <p:spPr>
            <a:xfrm>
              <a:off x="190500" y="190500"/>
              <a:ext cx="3714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8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Representación del Tiempo</a:t>
              </a:r>
              <a:endParaRPr b="1" sz="18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0" name="Google Shape;130;p20"/>
            <p:cNvSpPr txBox="1"/>
            <p:nvPr/>
          </p:nvSpPr>
          <p:spPr>
            <a:xfrm>
              <a:off x="190500" y="571500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hour:</a:t>
              </a:r>
              <a:r>
                <a:rPr b="0" lang="es" sz="11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Hora del login (0-23)</a:t>
              </a:r>
              <a:endParaRPr b="0" sz="11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hour_sin, hour_cos:</a:t>
              </a:r>
              <a:r>
                <a:rPr b="0" lang="es" sz="11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Codificación cíclica</a:t>
              </a:r>
              <a:endParaRPr b="0" sz="11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 ¿Por qué?</a:t>
              </a:r>
              <a:endParaRPr b="1" sz="11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CCD6F6"/>
                </a:buClr>
                <a:buSzPts val="1100"/>
                <a:buFont typeface="Roboto"/>
                <a:buChar char="●"/>
              </a:pPr>
              <a:r>
                <a:rPr b="0" lang="es" sz="11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Evita saltos artificiales (23 → 0)</a:t>
              </a:r>
              <a:endParaRPr b="0" sz="11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CCD6F6"/>
                </a:buClr>
                <a:buSzPts val="1100"/>
                <a:buFont typeface="Roboto"/>
                <a:buChar char="●"/>
              </a:pPr>
              <a:r>
                <a:rPr b="0" lang="es" sz="11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Modelado de comportamiento periódico</a:t>
              </a:r>
              <a:endParaRPr b="0" sz="11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1" name="Google Shape;131;p20"/>
          <p:cNvGrpSpPr/>
          <p:nvPr/>
        </p:nvGrpSpPr>
        <p:grpSpPr>
          <a:xfrm>
            <a:off x="4667250" y="1143000"/>
            <a:ext cx="4095900" cy="1905000"/>
            <a:chOff x="0" y="0"/>
            <a:chExt cx="4095900" cy="1905000"/>
          </a:xfrm>
        </p:grpSpPr>
        <p:sp>
          <p:nvSpPr>
            <p:cNvPr id="132" name="Google Shape;132;p20"/>
            <p:cNvSpPr/>
            <p:nvPr/>
          </p:nvSpPr>
          <p:spPr>
            <a:xfrm>
              <a:off x="0" y="0"/>
              <a:ext cx="4095900" cy="1905000"/>
            </a:xfrm>
            <a:prstGeom prst="roundRect">
              <a:avLst>
                <a:gd fmla="val 7500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0"/>
            <p:cNvSpPr txBox="1"/>
            <p:nvPr/>
          </p:nvSpPr>
          <p:spPr>
            <a:xfrm>
              <a:off x="190500" y="190500"/>
              <a:ext cx="3714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8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 Velocidad de Login</a:t>
              </a:r>
              <a:endParaRPr b="1" sz="18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4" name="Google Shape;134;p20"/>
            <p:cNvSpPr txBox="1"/>
            <p:nvPr/>
          </p:nvSpPr>
          <p:spPr>
            <a:xfrm>
              <a:off x="190500" y="571500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time_diff:</a:t>
              </a:r>
              <a:r>
                <a:rPr b="0" lang="es" sz="11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Tiempo entre logins consecutivos</a:t>
              </a:r>
              <a:endParaRPr b="0" sz="11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time_diff_log:</a:t>
              </a:r>
              <a:r>
                <a:rPr b="0" lang="es" sz="11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Transformación logarítmica</a:t>
              </a:r>
              <a:endParaRPr b="0" sz="11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Objetivo</a:t>
              </a:r>
              <a:endParaRPr b="1" sz="11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CCD6F6"/>
                </a:buClr>
                <a:buSzPts val="1100"/>
                <a:buFont typeface="Roboto"/>
                <a:buChar char="●"/>
              </a:pPr>
              <a:r>
                <a:rPr b="0" lang="es" sz="11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Detectar actividad automatizada (Bots)</a:t>
              </a:r>
              <a:endParaRPr b="0" sz="11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CCD6F6"/>
                </a:buClr>
                <a:buSzPts val="1100"/>
                <a:buFont typeface="Roboto"/>
                <a:buChar char="●"/>
              </a:pPr>
              <a:r>
                <a:rPr b="0" lang="es" sz="11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Identificar accesos anormalmente rápidos</a:t>
              </a:r>
              <a:endParaRPr b="0" sz="11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35" name="Google Shape;13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4572000"/>
            <a:ext cx="8382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 txBox="1"/>
          <p:nvPr/>
        </p:nvSpPr>
        <p:spPr>
          <a:xfrm>
            <a:off x="571500" y="45720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Capturo tanto el momento del login como la dinámica temporal entre eventos</a:t>
            </a:r>
            <a:endParaRPr b="0" i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7" name="Google Shape;137;p20"/>
          <p:cNvPicPr preferRelativeResize="0"/>
          <p:nvPr/>
        </p:nvPicPr>
        <p:blipFill rotWithShape="1">
          <a:blip r:embed="rId5">
            <a:alphaModFix/>
          </a:blip>
          <a:srcRect b="0" l="40" r="40" t="0"/>
          <a:stretch/>
        </p:blipFill>
        <p:spPr>
          <a:xfrm>
            <a:off x="7686675" y="4095750"/>
            <a:ext cx="1114500" cy="10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0"/>
          <p:cNvSpPr txBox="1"/>
          <p:nvPr/>
        </p:nvSpPr>
        <p:spPr>
          <a:xfrm>
            <a:off x="223425" y="3048000"/>
            <a:ext cx="6926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90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b="1" lang="e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Preprocesamiento:</a:t>
            </a:r>
            <a:r>
              <a:rPr lang="e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Ingesta de logs y ordenamiento cronológico por usuario para reconstruir la línea de tiempo de actividad.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Comportamiento de Red y Dispositivos</a:t>
            </a:r>
            <a:endParaRPr b="0" sz="3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143" name="Google Shape;143;p21"/>
          <p:cNvGrpSpPr/>
          <p:nvPr/>
        </p:nvGrpSpPr>
        <p:grpSpPr>
          <a:xfrm>
            <a:off x="381000" y="1143000"/>
            <a:ext cx="2667000" cy="1333500"/>
            <a:chOff x="381000" y="1143000"/>
            <a:chExt cx="2667000" cy="1333500"/>
          </a:xfrm>
        </p:grpSpPr>
        <p:sp>
          <p:nvSpPr>
            <p:cNvPr id="144" name="Google Shape;144;p21"/>
            <p:cNvSpPr/>
            <p:nvPr/>
          </p:nvSpPr>
          <p:spPr>
            <a:xfrm>
              <a:off x="381000" y="1143000"/>
              <a:ext cx="2667000" cy="1333500"/>
            </a:xfrm>
            <a:prstGeom prst="roundRect">
              <a:avLst>
                <a:gd fmla="val 10714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1"/>
            <p:cNvSpPr txBox="1"/>
            <p:nvPr/>
          </p:nvSpPr>
          <p:spPr>
            <a:xfrm>
              <a:off x="571500" y="1333500"/>
              <a:ext cx="2286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665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Rareza de IP</a:t>
              </a:r>
              <a:endParaRPr b="1" sz="1665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s" sz="1018">
                  <a:solidFill>
                    <a:srgbClr val="81D4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ip_rarity = 1 - frecuencia</a:t>
              </a:r>
              <a:endParaRPr b="0" sz="1018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" sz="1018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Mide qué tan inusual es una IP para el usuario específico.</a:t>
              </a:r>
              <a:endParaRPr b="0" sz="1018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6" name="Google Shape;146;p21"/>
          <p:cNvGrpSpPr/>
          <p:nvPr/>
        </p:nvGrpSpPr>
        <p:grpSpPr>
          <a:xfrm>
            <a:off x="3238500" y="1143000"/>
            <a:ext cx="2667000" cy="1333500"/>
            <a:chOff x="3238500" y="1143000"/>
            <a:chExt cx="2667000" cy="1333500"/>
          </a:xfrm>
        </p:grpSpPr>
        <p:sp>
          <p:nvSpPr>
            <p:cNvPr id="147" name="Google Shape;147;p21"/>
            <p:cNvSpPr/>
            <p:nvPr/>
          </p:nvSpPr>
          <p:spPr>
            <a:xfrm>
              <a:off x="3238500" y="1143000"/>
              <a:ext cx="2667000" cy="1333500"/>
            </a:xfrm>
            <a:prstGeom prst="roundRect">
              <a:avLst>
                <a:gd fmla="val 10714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1"/>
            <p:cNvSpPr txBox="1"/>
            <p:nvPr/>
          </p:nvSpPr>
          <p:spPr>
            <a:xfrm>
              <a:off x="3429000" y="1333500"/>
              <a:ext cx="2286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665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Dispositivo</a:t>
              </a:r>
              <a:endParaRPr b="1" sz="1665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s" sz="1018">
                  <a:solidFill>
                    <a:srgbClr val="81D4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device_rarity</a:t>
              </a:r>
              <a:endParaRPr b="0" sz="1018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" sz="1018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Detecta el uso de hardware o navegadores poco frecuentes.</a:t>
              </a:r>
              <a:endParaRPr b="0" sz="1018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9" name="Google Shape;149;p21"/>
          <p:cNvGrpSpPr/>
          <p:nvPr/>
        </p:nvGrpSpPr>
        <p:grpSpPr>
          <a:xfrm>
            <a:off x="6096000" y="1143000"/>
            <a:ext cx="2667000" cy="1333500"/>
            <a:chOff x="6096000" y="1143000"/>
            <a:chExt cx="2667000" cy="1333500"/>
          </a:xfrm>
        </p:grpSpPr>
        <p:sp>
          <p:nvSpPr>
            <p:cNvPr id="150" name="Google Shape;150;p21"/>
            <p:cNvSpPr/>
            <p:nvPr/>
          </p:nvSpPr>
          <p:spPr>
            <a:xfrm>
              <a:off x="6096000" y="1143000"/>
              <a:ext cx="2667000" cy="1333500"/>
            </a:xfrm>
            <a:prstGeom prst="roundRect">
              <a:avLst>
                <a:gd fmla="val 10714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1"/>
            <p:cNvSpPr txBox="1"/>
            <p:nvPr/>
          </p:nvSpPr>
          <p:spPr>
            <a:xfrm>
              <a:off x="6286500" y="1333500"/>
              <a:ext cx="2286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665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Contexto</a:t>
              </a:r>
              <a:endParaRPr b="1" sz="1665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3211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CD6F6"/>
                </a:buClr>
                <a:buSzPts val="1018"/>
                <a:buFont typeface="Roboto"/>
                <a:buChar char="●"/>
              </a:pPr>
              <a:r>
                <a:rPr b="1" lang="es" sz="1018">
                  <a:solidFill>
                    <a:srgbClr val="81D4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ip_change</a:t>
              </a:r>
              <a:r>
                <a:rPr b="0" lang="es" sz="1018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: Cambio de red</a:t>
              </a:r>
              <a:endParaRPr b="0" sz="1018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3211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CCD6F6"/>
                </a:buClr>
                <a:buSzPts val="1018"/>
                <a:buFont typeface="Roboto"/>
                <a:buChar char="●"/>
              </a:pPr>
              <a:r>
                <a:rPr b="1" lang="es" sz="1018">
                  <a:solidFill>
                    <a:srgbClr val="81D4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device_change</a:t>
              </a:r>
              <a:r>
                <a:rPr b="0" lang="es" sz="1018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: Cambio de hardware</a:t>
              </a:r>
              <a:endParaRPr b="0" sz="1018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2" name="Google Shape;152;p21"/>
          <p:cNvGrpSpPr/>
          <p:nvPr/>
        </p:nvGrpSpPr>
        <p:grpSpPr>
          <a:xfrm>
            <a:off x="381000" y="2667000"/>
            <a:ext cx="8382000" cy="1333500"/>
            <a:chOff x="381000" y="2667000"/>
            <a:chExt cx="8382000" cy="1333500"/>
          </a:xfrm>
        </p:grpSpPr>
        <p:sp>
          <p:nvSpPr>
            <p:cNvPr id="153" name="Google Shape;153;p21"/>
            <p:cNvSpPr/>
            <p:nvPr/>
          </p:nvSpPr>
          <p:spPr>
            <a:xfrm>
              <a:off x="381000" y="2667000"/>
              <a:ext cx="8382000" cy="1333500"/>
            </a:xfrm>
            <a:prstGeom prst="roundRect">
              <a:avLst>
                <a:gd fmla="val 10714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1"/>
            <p:cNvSpPr txBox="1"/>
            <p:nvPr/>
          </p:nvSpPr>
          <p:spPr>
            <a:xfrm>
              <a:off x="666750" y="2857500"/>
              <a:ext cx="3810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665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 Objetivo</a:t>
              </a:r>
              <a:endParaRPr b="1" sz="1665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s" sz="1018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Identificar proactivamente:</a:t>
              </a:r>
              <a:endParaRPr b="0" sz="1018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3211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CCD6F6"/>
                </a:buClr>
                <a:buSzPts val="1018"/>
                <a:buFont typeface="Roboto"/>
                <a:buChar char="●"/>
              </a:pPr>
              <a:r>
                <a:rPr b="0" lang="es" sz="1018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Accesos desde entornos nuevos o desconocidos.</a:t>
              </a:r>
              <a:endParaRPr b="0" sz="1018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3211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CCD6F6"/>
                </a:buClr>
                <a:buSzPts val="1018"/>
                <a:buFont typeface="Roboto"/>
                <a:buChar char="●"/>
              </a:pPr>
              <a:r>
                <a:rPr b="0" lang="es" sz="1018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Posibles compromisos de cuenta y robos de sesión.</a:t>
              </a:r>
              <a:endParaRPr b="0" sz="1018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5" name="Google Shape;155;p21"/>
          <p:cNvSpPr/>
          <p:nvPr/>
        </p:nvSpPr>
        <p:spPr>
          <a:xfrm>
            <a:off x="381000" y="4524375"/>
            <a:ext cx="8382000" cy="381000"/>
          </a:xfrm>
          <a:prstGeom prst="roundRect">
            <a:avLst>
              <a:gd fmla="val 20000" name="adj"/>
            </a:avLst>
          </a:prstGeom>
          <a:solidFill>
            <a:srgbClr val="81D4FA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21"/>
          <p:cNvPicPr preferRelativeResize="0"/>
          <p:nvPr/>
        </p:nvPicPr>
        <p:blipFill rotWithShape="1">
          <a:blip r:embed="rId4">
            <a:alphaModFix/>
          </a:blip>
          <a:srcRect b="0" l="40" r="40" t="0"/>
          <a:stretch/>
        </p:blipFill>
        <p:spPr>
          <a:xfrm>
            <a:off x="7686675" y="4095750"/>
            <a:ext cx="1114500" cy="10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296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Modelado del comportamiento del usuario </a:t>
            </a:r>
            <a:endParaRPr b="0" sz="296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161" name="Google Shape;161;p22"/>
          <p:cNvGrpSpPr/>
          <p:nvPr/>
        </p:nvGrpSpPr>
        <p:grpSpPr>
          <a:xfrm>
            <a:off x="381000" y="1143000"/>
            <a:ext cx="4095900" cy="1428900"/>
            <a:chOff x="381000" y="1143000"/>
            <a:chExt cx="4095900" cy="1428900"/>
          </a:xfrm>
        </p:grpSpPr>
        <p:sp>
          <p:nvSpPr>
            <p:cNvPr id="162" name="Google Shape;162;p22"/>
            <p:cNvSpPr/>
            <p:nvPr/>
          </p:nvSpPr>
          <p:spPr>
            <a:xfrm>
              <a:off x="381000" y="1143000"/>
              <a:ext cx="4095900" cy="1428900"/>
            </a:xfrm>
            <a:prstGeom prst="roundRect">
              <a:avLst>
                <a:gd fmla="val 10000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2"/>
            <p:cNvSpPr txBox="1"/>
            <p:nvPr/>
          </p:nvSpPr>
          <p:spPr>
            <a:xfrm>
              <a:off x="571500" y="1333500"/>
              <a:ext cx="3714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8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Desvío Horario</a:t>
              </a:r>
              <a:endParaRPr b="1" sz="18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4" name="Google Shape;164;p22"/>
            <p:cNvSpPr txBox="1"/>
            <p:nvPr/>
          </p:nvSpPr>
          <p:spPr>
            <a:xfrm>
              <a:off x="571500" y="1714500"/>
              <a:ext cx="3714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53">
                  <a:solidFill>
                    <a:srgbClr val="81D4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hour_deviation</a:t>
              </a:r>
              <a:endParaRPr b="1" sz="853">
                <a:solidFill>
                  <a:srgbClr val="81D4F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s" sz="853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Distancia respecto al patrón horario del usuario.</a:t>
              </a:r>
              <a:endParaRPr b="0" sz="853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s" sz="853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 ¿Qué mide?</a:t>
              </a:r>
              <a:endParaRPr b="1" sz="853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s" sz="853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Qué tan distinto es un login respecto a su rutina.</a:t>
              </a:r>
              <a:endParaRPr b="0" sz="853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5" name="Google Shape;165;p22"/>
          <p:cNvGrpSpPr/>
          <p:nvPr/>
        </p:nvGrpSpPr>
        <p:grpSpPr>
          <a:xfrm>
            <a:off x="4667250" y="1143000"/>
            <a:ext cx="4095900" cy="1428900"/>
            <a:chOff x="4667250" y="1143000"/>
            <a:chExt cx="4095900" cy="1428900"/>
          </a:xfrm>
        </p:grpSpPr>
        <p:sp>
          <p:nvSpPr>
            <p:cNvPr id="166" name="Google Shape;166;p22"/>
            <p:cNvSpPr/>
            <p:nvPr/>
          </p:nvSpPr>
          <p:spPr>
            <a:xfrm>
              <a:off x="4667250" y="1143000"/>
              <a:ext cx="4095900" cy="1428900"/>
            </a:xfrm>
            <a:prstGeom prst="roundRect">
              <a:avLst>
                <a:gd fmla="val 10000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2"/>
            <p:cNvSpPr txBox="1"/>
            <p:nvPr/>
          </p:nvSpPr>
          <p:spPr>
            <a:xfrm>
              <a:off x="4857750" y="1333500"/>
              <a:ext cx="3714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8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Contexto de IPs</a:t>
              </a:r>
              <a:endParaRPr b="1" sz="18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8" name="Google Shape;168;p22"/>
            <p:cNvSpPr txBox="1"/>
            <p:nvPr/>
          </p:nvSpPr>
          <p:spPr>
            <a:xfrm>
              <a:off x="4857750" y="1714500"/>
              <a:ext cx="3714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82734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CCD6F6"/>
                </a:buClr>
                <a:buSzPts val="853"/>
                <a:buFont typeface="Roboto"/>
                <a:buChar char="●"/>
              </a:pPr>
              <a:r>
                <a:rPr b="1" lang="es" sz="853">
                  <a:solidFill>
                    <a:srgbClr val="81D4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ip_shared_extreme</a:t>
              </a:r>
              <a:r>
                <a:rPr b="0" lang="es" sz="853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: IPs muy compartidas.</a:t>
              </a:r>
              <a:endParaRPr b="0" sz="853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2734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CCD6F6"/>
                </a:buClr>
                <a:buSzPts val="853"/>
                <a:buFont typeface="Roboto"/>
                <a:buChar char="●"/>
              </a:pPr>
              <a:r>
                <a:rPr b="1" lang="es" sz="853">
                  <a:solidFill>
                    <a:srgbClr val="81D4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ip_consistency</a:t>
              </a:r>
              <a:r>
                <a:rPr b="0" lang="es" sz="853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: Cantidad de IPs únicas por usuario.</a:t>
              </a:r>
              <a:endParaRPr b="0" sz="853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9" name="Google Shape;169;p22"/>
          <p:cNvGrpSpPr/>
          <p:nvPr/>
        </p:nvGrpSpPr>
        <p:grpSpPr>
          <a:xfrm>
            <a:off x="381000" y="2762250"/>
            <a:ext cx="8382000" cy="1333500"/>
            <a:chOff x="381000" y="2762250"/>
            <a:chExt cx="8382000" cy="1333500"/>
          </a:xfrm>
        </p:grpSpPr>
        <p:sp>
          <p:nvSpPr>
            <p:cNvPr id="170" name="Google Shape;170;p22"/>
            <p:cNvSpPr/>
            <p:nvPr/>
          </p:nvSpPr>
          <p:spPr>
            <a:xfrm>
              <a:off x="381000" y="2762250"/>
              <a:ext cx="8382000" cy="1333500"/>
            </a:xfrm>
            <a:prstGeom prst="roundRect">
              <a:avLst>
                <a:gd fmla="val 10714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2"/>
            <p:cNvSpPr txBox="1"/>
            <p:nvPr/>
          </p:nvSpPr>
          <p:spPr>
            <a:xfrm>
              <a:off x="571500" y="2952750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8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 Consideración</a:t>
              </a:r>
              <a:endParaRPr b="1" sz="18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2" name="Google Shape;172;p22"/>
            <p:cNvSpPr txBox="1"/>
            <p:nvPr/>
          </p:nvSpPr>
          <p:spPr>
            <a:xfrm>
              <a:off x="571500" y="3333750"/>
              <a:ext cx="8001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82734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CCD6F6"/>
                </a:buClr>
                <a:buSzPts val="853"/>
                <a:buFont typeface="Roboto"/>
                <a:buChar char="●"/>
              </a:pPr>
              <a:r>
                <a:rPr b="0" lang="es" sz="853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IPs mayormente privadas (~97%) detectadas en el flujo.</a:t>
              </a:r>
              <a:endParaRPr b="0" sz="853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2734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CCD6F6"/>
                </a:buClr>
                <a:buSzPts val="853"/>
                <a:buFont typeface="Roboto"/>
                <a:buChar char="●"/>
              </a:pPr>
              <a:r>
                <a:rPr b="0" lang="es" sz="853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No se utiliza geolocalización </a:t>
              </a:r>
              <a:r>
                <a:rPr lang="es" sz="853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pues al ser ips privadas herramientas </a:t>
              </a:r>
              <a:r>
                <a:rPr lang="es" sz="853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cómo</a:t>
              </a:r>
              <a:r>
                <a:rPr lang="es" sz="853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GeoLite2 no funcio</a:t>
              </a:r>
              <a:endParaRPr b="0" sz="853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3" name="Google Shape;173;p22"/>
          <p:cNvSpPr/>
          <p:nvPr/>
        </p:nvSpPr>
        <p:spPr>
          <a:xfrm>
            <a:off x="381000" y="4524375"/>
            <a:ext cx="8382000" cy="381000"/>
          </a:xfrm>
          <a:prstGeom prst="roundRect">
            <a:avLst>
              <a:gd fmla="val 20000" name="adj"/>
            </a:avLst>
          </a:prstGeom>
          <a:solidFill>
            <a:srgbClr val="81D4FA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2"/>
          <p:cNvSpPr txBox="1"/>
          <p:nvPr/>
        </p:nvSpPr>
        <p:spPr>
          <a:xfrm>
            <a:off x="571500" y="4524375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" sz="85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Todas las features están centradas en el comportamiento individual del usuario</a:t>
            </a:r>
            <a:endParaRPr b="0" i="1" sz="853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5" name="Google Shape;175;p22"/>
          <p:cNvPicPr preferRelativeResize="0"/>
          <p:nvPr/>
        </p:nvPicPr>
        <p:blipFill rotWithShape="1">
          <a:blip r:embed="rId4">
            <a:alphaModFix/>
          </a:blip>
          <a:srcRect b="0" l="40" r="40" t="0"/>
          <a:stretch/>
        </p:blipFill>
        <p:spPr>
          <a:xfrm>
            <a:off x="7686675" y="4095750"/>
            <a:ext cx="1114500" cy="10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/>
          <p:nvPr/>
        </p:nvSpPr>
        <p:spPr>
          <a:xfrm>
            <a:off x="381000" y="2857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2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Features Exploradas y Descartadas</a:t>
            </a:r>
            <a:endParaRPr b="0" sz="28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180" name="Google Shape;180;p23"/>
          <p:cNvGrpSpPr/>
          <p:nvPr/>
        </p:nvGrpSpPr>
        <p:grpSpPr>
          <a:xfrm>
            <a:off x="381000" y="1000125"/>
            <a:ext cx="4095900" cy="2238300"/>
            <a:chOff x="381000" y="1000125"/>
            <a:chExt cx="4095900" cy="2238300"/>
          </a:xfrm>
        </p:grpSpPr>
        <p:sp>
          <p:nvSpPr>
            <p:cNvPr id="181" name="Google Shape;181;p23"/>
            <p:cNvSpPr/>
            <p:nvPr/>
          </p:nvSpPr>
          <p:spPr>
            <a:xfrm>
              <a:off x="381000" y="1000125"/>
              <a:ext cx="4095900" cy="2238300"/>
            </a:xfrm>
            <a:prstGeom prst="roundRect">
              <a:avLst>
                <a:gd fmla="val 6382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3"/>
            <p:cNvSpPr txBox="1"/>
            <p:nvPr/>
          </p:nvSpPr>
          <p:spPr>
            <a:xfrm>
              <a:off x="571500" y="1143000"/>
              <a:ext cx="3714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48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 Definición de Features Evaluadas</a:t>
              </a:r>
              <a:endParaRPr b="1" sz="148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3" name="Google Shape;183;p23"/>
            <p:cNvSpPr txBox="1"/>
            <p:nvPr/>
          </p:nvSpPr>
          <p:spPr>
            <a:xfrm>
              <a:off x="571500" y="1476375"/>
              <a:ext cx="37149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950">
                  <a:solidFill>
                    <a:srgbClr val="81D4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ip_is_rare</a:t>
              </a:r>
              <a:r>
                <a:rPr b="0" lang="es" sz="925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: IPs únicas o poco compartidas por usuario.</a:t>
              </a:r>
              <a:endParaRPr b="0" sz="925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s" sz="950">
                  <a:solidFill>
                    <a:srgbClr val="81D4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ip_is_massive</a:t>
              </a:r>
              <a:r>
                <a:rPr b="0" lang="es" sz="925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: Identifica posibles proxies, VPNs o redes corporativas.</a:t>
              </a:r>
              <a:endParaRPr b="0" sz="925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s" sz="950">
                  <a:solidFill>
                    <a:srgbClr val="81D4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suspicious_ip</a:t>
              </a:r>
              <a:r>
                <a:rPr b="0" lang="es" sz="925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: Combinación de rareza y baja frecuencia de uso.</a:t>
              </a:r>
              <a:endParaRPr b="0" sz="925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s" sz="950">
                  <a:solidFill>
                    <a:srgbClr val="81D4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rule_ip</a:t>
              </a:r>
              <a:r>
                <a:rPr b="0" lang="es" sz="925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: Flag de anomalía basado en percentiles (detección heurística).</a:t>
              </a:r>
              <a:endParaRPr b="0" sz="925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4" name="Google Shape;184;p23"/>
          <p:cNvGrpSpPr/>
          <p:nvPr/>
        </p:nvGrpSpPr>
        <p:grpSpPr>
          <a:xfrm>
            <a:off x="4667250" y="1000125"/>
            <a:ext cx="4095900" cy="1047900"/>
            <a:chOff x="4667250" y="1000125"/>
            <a:chExt cx="4095900" cy="1047900"/>
          </a:xfrm>
        </p:grpSpPr>
        <p:sp>
          <p:nvSpPr>
            <p:cNvPr id="185" name="Google Shape;185;p23"/>
            <p:cNvSpPr/>
            <p:nvPr/>
          </p:nvSpPr>
          <p:spPr>
            <a:xfrm>
              <a:off x="4667250" y="1000125"/>
              <a:ext cx="4095900" cy="1047900"/>
            </a:xfrm>
            <a:prstGeom prst="roundRect">
              <a:avLst>
                <a:gd fmla="val 13636" name="adj"/>
              </a:avLst>
            </a:prstGeom>
            <a:solidFill>
              <a:srgbClr val="112240"/>
            </a:solidFill>
            <a:ln cap="flat" cmpd="sng" w="14300">
              <a:solidFill>
                <a:srgbClr val="F443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3"/>
            <p:cNvSpPr txBox="1"/>
            <p:nvPr/>
          </p:nvSpPr>
          <p:spPr>
            <a:xfrm>
              <a:off x="4857750" y="1143000"/>
              <a:ext cx="3714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480">
                  <a:solidFill>
                    <a:srgbClr val="F44336"/>
                  </a:solidFill>
                  <a:latin typeface="Roboto"/>
                  <a:ea typeface="Roboto"/>
                  <a:cs typeface="Roboto"/>
                  <a:sym typeface="Roboto"/>
                </a:rPr>
                <a:t>Geolocalización (Descartada)</a:t>
              </a:r>
              <a:endParaRPr b="1" sz="1480">
                <a:solidFill>
                  <a:srgbClr val="F4433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7" name="Google Shape;187;p23"/>
            <p:cNvSpPr txBox="1"/>
            <p:nvPr/>
          </p:nvSpPr>
          <p:spPr>
            <a:xfrm>
              <a:off x="4857750" y="1476375"/>
              <a:ext cx="3714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87338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CCD6F6"/>
                </a:buClr>
                <a:buSzPts val="925"/>
                <a:buFont typeface="Roboto"/>
                <a:buChar char="●"/>
              </a:pPr>
              <a:r>
                <a:rPr b="0" lang="es" sz="925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~97% de IPs privadas detectadas.</a:t>
              </a:r>
              <a:endParaRPr b="0" sz="925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7338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CCD6F6"/>
                </a:buClr>
                <a:buSzPts val="925"/>
                <a:buFont typeface="Roboto"/>
                <a:buChar char="●"/>
              </a:pPr>
              <a:r>
                <a:rPr b="0" lang="es" sz="925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No es posible aplicar geolocalización confiable en la práctica.</a:t>
              </a:r>
              <a:endParaRPr b="0" sz="925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8" name="Google Shape;188;p23"/>
          <p:cNvGrpSpPr/>
          <p:nvPr/>
        </p:nvGrpSpPr>
        <p:grpSpPr>
          <a:xfrm>
            <a:off x="4667250" y="2190750"/>
            <a:ext cx="4095900" cy="1047900"/>
            <a:chOff x="4667250" y="2190750"/>
            <a:chExt cx="4095900" cy="1047900"/>
          </a:xfrm>
        </p:grpSpPr>
        <p:sp>
          <p:nvSpPr>
            <p:cNvPr id="189" name="Google Shape;189;p23"/>
            <p:cNvSpPr/>
            <p:nvPr/>
          </p:nvSpPr>
          <p:spPr>
            <a:xfrm>
              <a:off x="4667250" y="2190750"/>
              <a:ext cx="4095900" cy="1047900"/>
            </a:xfrm>
            <a:prstGeom prst="roundRect">
              <a:avLst>
                <a:gd fmla="val 13636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3"/>
            <p:cNvSpPr txBox="1"/>
            <p:nvPr/>
          </p:nvSpPr>
          <p:spPr>
            <a:xfrm>
              <a:off x="4857750" y="2333625"/>
              <a:ext cx="3714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48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 Decisión y Priorización</a:t>
              </a:r>
              <a:endParaRPr b="1" sz="148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1" name="Google Shape;191;p23"/>
            <p:cNvSpPr txBox="1"/>
            <p:nvPr/>
          </p:nvSpPr>
          <p:spPr>
            <a:xfrm>
              <a:off x="4857750" y="2667000"/>
              <a:ext cx="3714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925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Descartadas por redundancia y bajo aporte discriminativo.</a:t>
              </a:r>
              <a:endParaRPr b="0" sz="925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s" sz="925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Se priorizan señales continuas: </a:t>
              </a:r>
              <a:r>
                <a:rPr b="1" lang="es" sz="950">
                  <a:solidFill>
                    <a:srgbClr val="81D4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ip_rarity</a:t>
              </a:r>
              <a:r>
                <a:rPr b="0" lang="es" sz="925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y </a:t>
              </a:r>
              <a:r>
                <a:rPr b="1" lang="es" sz="950">
                  <a:solidFill>
                    <a:srgbClr val="81D4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hour_deviation</a:t>
              </a:r>
              <a:r>
                <a:rPr b="0" lang="es" sz="925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b="0" sz="925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2" name="Google Shape;192;p23"/>
          <p:cNvGrpSpPr/>
          <p:nvPr/>
        </p:nvGrpSpPr>
        <p:grpSpPr>
          <a:xfrm>
            <a:off x="381000" y="3381375"/>
            <a:ext cx="8382000" cy="857400"/>
            <a:chOff x="381000" y="3381375"/>
            <a:chExt cx="8382000" cy="857400"/>
          </a:xfrm>
        </p:grpSpPr>
        <p:sp>
          <p:nvSpPr>
            <p:cNvPr id="193" name="Google Shape;193;p23"/>
            <p:cNvSpPr/>
            <p:nvPr/>
          </p:nvSpPr>
          <p:spPr>
            <a:xfrm>
              <a:off x="381000" y="3381375"/>
              <a:ext cx="8382000" cy="857400"/>
            </a:xfrm>
            <a:prstGeom prst="roundRect">
              <a:avLst>
                <a:gd fmla="val 16666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3"/>
            <p:cNvSpPr txBox="1"/>
            <p:nvPr/>
          </p:nvSpPr>
          <p:spPr>
            <a:xfrm>
              <a:off x="666750" y="3524250"/>
              <a:ext cx="7810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48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Observaciòn</a:t>
              </a:r>
              <a:endParaRPr b="1" sz="148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5" name="Google Shape;195;p23"/>
            <p:cNvSpPr txBox="1"/>
            <p:nvPr/>
          </p:nvSpPr>
          <p:spPr>
            <a:xfrm>
              <a:off x="666750" y="3810000"/>
              <a:ext cx="781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925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Las </a:t>
              </a:r>
              <a:r>
                <a:rPr b="1" lang="es" sz="925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variables continuas</a:t>
              </a:r>
              <a:r>
                <a:rPr b="0" lang="es" sz="925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ofrecen mejor capacidad de modelado que las binarias. No toda fuente externa de datos es utilizable si la calidad del dato original (IPs privadas) no lo permite.</a:t>
              </a:r>
              <a:endParaRPr b="0" sz="925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96" name="Google Shape;196;p23"/>
          <p:cNvSpPr/>
          <p:nvPr/>
        </p:nvSpPr>
        <p:spPr>
          <a:xfrm>
            <a:off x="381000" y="4524375"/>
            <a:ext cx="8382000" cy="381000"/>
          </a:xfrm>
          <a:prstGeom prst="roundRect">
            <a:avLst>
              <a:gd fmla="val 20000" name="adj"/>
            </a:avLst>
          </a:prstGeom>
          <a:solidFill>
            <a:srgbClr val="81D4FA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7" name="Google Shape;197;p23"/>
          <p:cNvPicPr preferRelativeResize="0"/>
          <p:nvPr/>
        </p:nvPicPr>
        <p:blipFill rotWithShape="1">
          <a:blip r:embed="rId4">
            <a:alphaModFix/>
          </a:blip>
          <a:srcRect b="0" l="40" r="40" t="0"/>
          <a:stretch/>
        </p:blipFill>
        <p:spPr>
          <a:xfrm>
            <a:off x="7877100" y="4313617"/>
            <a:ext cx="885900" cy="80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/>
          <p:nvPr/>
        </p:nvSpPr>
        <p:spPr>
          <a:xfrm>
            <a:off x="381000" y="2857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b="0" lang="es" sz="2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Observaciones del Análisis de Features</a:t>
            </a:r>
            <a:endParaRPr b="0" sz="28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202" name="Google Shape;202;p24"/>
          <p:cNvGrpSpPr/>
          <p:nvPr/>
        </p:nvGrpSpPr>
        <p:grpSpPr>
          <a:xfrm>
            <a:off x="381000" y="930180"/>
            <a:ext cx="2667000" cy="1432865"/>
            <a:chOff x="381000" y="860090"/>
            <a:chExt cx="2667000" cy="2286000"/>
          </a:xfrm>
        </p:grpSpPr>
        <p:sp>
          <p:nvSpPr>
            <p:cNvPr id="203" name="Google Shape;203;p24"/>
            <p:cNvSpPr/>
            <p:nvPr/>
          </p:nvSpPr>
          <p:spPr>
            <a:xfrm>
              <a:off x="381000" y="860090"/>
              <a:ext cx="2667000" cy="2286000"/>
            </a:xfrm>
            <a:prstGeom prst="roundRect">
              <a:avLst>
                <a:gd fmla="val 6250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4"/>
            <p:cNvSpPr txBox="1"/>
            <p:nvPr/>
          </p:nvSpPr>
          <p:spPr>
            <a:xfrm>
              <a:off x="436425" y="990940"/>
              <a:ext cx="2286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b="1" lang="es" sz="124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1" lang="es" sz="124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ip_rarity</a:t>
              </a:r>
              <a:endParaRPr b="1" sz="124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5" name="Google Shape;205;p24"/>
            <p:cNvSpPr txBox="1"/>
            <p:nvPr/>
          </p:nvSpPr>
          <p:spPr>
            <a:xfrm>
              <a:off x="436425" y="1379595"/>
              <a:ext cx="2286000" cy="162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52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CCD6F6"/>
                </a:buClr>
                <a:buSzPts val="1050"/>
                <a:buFont typeface="Roboto"/>
                <a:buChar char="●"/>
              </a:pPr>
              <a:r>
                <a:rPr b="0" lang="es" sz="10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Distribución </a:t>
              </a:r>
              <a:r>
                <a:rPr b="1" lang="es" sz="105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bimodal</a:t>
              </a:r>
              <a:r>
                <a:rPr b="0" lang="es" sz="10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b="0" sz="10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5275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CCD6F6"/>
                </a:buClr>
                <a:buSzPts val="1050"/>
                <a:buFont typeface="Roboto"/>
                <a:buChar char="●"/>
              </a:pPr>
              <a:r>
                <a:rPr b="0" lang="es" sz="10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Muchas IPs extremadamente raras (~1).</a:t>
              </a:r>
              <a:endParaRPr b="0" sz="10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5275" lvl="0" marL="457200" rtl="0" algn="l">
                <a:spcBef>
                  <a:spcPts val="400"/>
                </a:spcBef>
                <a:spcAft>
                  <a:spcPts val="400"/>
                </a:spcAft>
                <a:buClr>
                  <a:srgbClr val="CCD6F6"/>
                </a:buClr>
                <a:buSzPts val="1050"/>
                <a:buFont typeface="Roboto"/>
                <a:buChar char="●"/>
              </a:pPr>
              <a:r>
                <a:rPr b="0" lang="es" sz="10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Necesita contexto: no toda IP rara es anomalía.</a:t>
              </a:r>
              <a:endParaRPr b="0" sz="10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6" name="Google Shape;206;p24"/>
          <p:cNvGrpSpPr/>
          <p:nvPr/>
        </p:nvGrpSpPr>
        <p:grpSpPr>
          <a:xfrm>
            <a:off x="3238634" y="930209"/>
            <a:ext cx="2466975" cy="1325423"/>
            <a:chOff x="3238500" y="1047750"/>
            <a:chExt cx="2667000" cy="2286000"/>
          </a:xfrm>
        </p:grpSpPr>
        <p:sp>
          <p:nvSpPr>
            <p:cNvPr id="207" name="Google Shape;207;p24"/>
            <p:cNvSpPr/>
            <p:nvPr/>
          </p:nvSpPr>
          <p:spPr>
            <a:xfrm>
              <a:off x="3238500" y="1047750"/>
              <a:ext cx="2667000" cy="2286000"/>
            </a:xfrm>
            <a:prstGeom prst="roundRect">
              <a:avLst>
                <a:gd fmla="val 6250" name="adj"/>
              </a:avLst>
            </a:prstGeom>
            <a:solidFill>
              <a:srgbClr val="112240"/>
            </a:solidFill>
            <a:ln cap="flat" cmpd="sng" w="13225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4"/>
            <p:cNvSpPr txBox="1"/>
            <p:nvPr/>
          </p:nvSpPr>
          <p:spPr>
            <a:xfrm>
              <a:off x="3429000" y="1190625"/>
              <a:ext cx="2286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70"/>
                </a:spcAft>
                <a:buNone/>
              </a:pPr>
              <a:r>
                <a:rPr b="1" lang="es" sz="1147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time_diff_log</a:t>
              </a:r>
              <a:endParaRPr b="1" sz="1147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9" name="Google Shape;209;p24"/>
            <p:cNvSpPr txBox="1"/>
            <p:nvPr/>
          </p:nvSpPr>
          <p:spPr>
            <a:xfrm>
              <a:off x="3429000" y="1524000"/>
              <a:ext cx="2286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73118" lvl="0" marL="422892" rtl="0" algn="l">
                <a:spcBef>
                  <a:spcPts val="0"/>
                </a:spcBef>
                <a:spcAft>
                  <a:spcPts val="0"/>
                </a:spcAft>
                <a:buClr>
                  <a:srgbClr val="CCD6F6"/>
                </a:buClr>
                <a:buSzPts val="971"/>
                <a:buFont typeface="Roboto"/>
                <a:buChar char="●"/>
              </a:pPr>
              <a:r>
                <a:rPr b="0" lang="es" sz="971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Distribución </a:t>
              </a:r>
              <a:r>
                <a:rPr b="1" lang="es" sz="971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sesgada</a:t>
              </a:r>
              <a:r>
                <a:rPr b="0" lang="es" sz="971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b="0" sz="971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73118" lvl="0" marL="422892" rtl="0" algn="l">
                <a:spcBef>
                  <a:spcPts val="370"/>
                </a:spcBef>
                <a:spcAft>
                  <a:spcPts val="0"/>
                </a:spcAft>
                <a:buClr>
                  <a:srgbClr val="CCD6F6"/>
                </a:buClr>
                <a:buSzPts val="971"/>
                <a:buFont typeface="Roboto"/>
                <a:buChar char="●"/>
              </a:pPr>
              <a:r>
                <a:rPr b="0" lang="es" sz="971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Presencia de valores bajos extremos.</a:t>
              </a:r>
              <a:endParaRPr b="0" sz="971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73118" lvl="0" marL="422892" rtl="0" algn="l">
                <a:spcBef>
                  <a:spcPts val="370"/>
                </a:spcBef>
                <a:spcAft>
                  <a:spcPts val="370"/>
                </a:spcAft>
                <a:buClr>
                  <a:srgbClr val="CCD6F6"/>
                </a:buClr>
                <a:buSzPts val="971"/>
                <a:buFont typeface="Roboto"/>
                <a:buChar char="●"/>
              </a:pPr>
              <a:r>
                <a:rPr b="0" lang="es" sz="971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Detecta logins rápidos (posibles </a:t>
              </a:r>
              <a:r>
                <a:rPr lang="es" sz="971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bots</a:t>
              </a:r>
              <a:r>
                <a:rPr b="0" lang="es" sz="971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).</a:t>
              </a:r>
              <a:endParaRPr b="0" sz="971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0" name="Google Shape;210;p24"/>
          <p:cNvGrpSpPr/>
          <p:nvPr/>
        </p:nvGrpSpPr>
        <p:grpSpPr>
          <a:xfrm>
            <a:off x="6096000" y="930183"/>
            <a:ext cx="2667000" cy="1432865"/>
            <a:chOff x="6096000" y="1047750"/>
            <a:chExt cx="2667000" cy="2286000"/>
          </a:xfrm>
        </p:grpSpPr>
        <p:sp>
          <p:nvSpPr>
            <p:cNvPr id="211" name="Google Shape;211;p24"/>
            <p:cNvSpPr/>
            <p:nvPr/>
          </p:nvSpPr>
          <p:spPr>
            <a:xfrm>
              <a:off x="6096000" y="1047750"/>
              <a:ext cx="2667000" cy="2286000"/>
            </a:xfrm>
            <a:prstGeom prst="roundRect">
              <a:avLst>
                <a:gd fmla="val 6250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4"/>
            <p:cNvSpPr txBox="1"/>
            <p:nvPr/>
          </p:nvSpPr>
          <p:spPr>
            <a:xfrm>
              <a:off x="6286500" y="1190625"/>
              <a:ext cx="2286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b="1" lang="es" sz="124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1" lang="es" sz="124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hour_deviation</a:t>
              </a:r>
              <a:endParaRPr b="1" sz="124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3" name="Google Shape;213;p24"/>
            <p:cNvSpPr txBox="1"/>
            <p:nvPr/>
          </p:nvSpPr>
          <p:spPr>
            <a:xfrm>
              <a:off x="6286500" y="1524000"/>
              <a:ext cx="2286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52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CCD6F6"/>
                </a:buClr>
                <a:buSzPts val="1050"/>
                <a:buFont typeface="Roboto"/>
                <a:buChar char="●"/>
              </a:pPr>
              <a:r>
                <a:rPr b="0" lang="es" sz="10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Concentración en valores medios.</a:t>
              </a:r>
              <a:endParaRPr b="0" sz="10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5275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CCD6F6"/>
                </a:buClr>
                <a:buSzPts val="1050"/>
                <a:buFont typeface="Roboto"/>
                <a:buChar char="●"/>
              </a:pPr>
              <a:r>
                <a:rPr b="0" lang="es" sz="10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Cola hacia valores altos.</a:t>
              </a:r>
              <a:endParaRPr b="0" sz="10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5275" lvl="0" marL="457200" rtl="0" algn="l">
                <a:spcBef>
                  <a:spcPts val="400"/>
                </a:spcBef>
                <a:spcAft>
                  <a:spcPts val="400"/>
                </a:spcAft>
                <a:buClr>
                  <a:srgbClr val="CCD6F6"/>
                </a:buClr>
                <a:buSzPts val="1050"/>
                <a:buFont typeface="Roboto"/>
                <a:buChar char="●"/>
              </a:pPr>
              <a:r>
                <a:rPr lang="es" sz="10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Id</a:t>
              </a:r>
              <a:r>
                <a:rPr b="0" lang="es" sz="10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entifica accesos fuera del patrón habitual.</a:t>
              </a:r>
              <a:endParaRPr b="0" sz="10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4" name="Google Shape;214;p24"/>
          <p:cNvGrpSpPr/>
          <p:nvPr/>
        </p:nvGrpSpPr>
        <p:grpSpPr>
          <a:xfrm>
            <a:off x="774739" y="4315577"/>
            <a:ext cx="5634380" cy="696295"/>
            <a:chOff x="501909" y="3596778"/>
            <a:chExt cx="8382000" cy="857400"/>
          </a:xfrm>
        </p:grpSpPr>
        <p:sp>
          <p:nvSpPr>
            <p:cNvPr id="215" name="Google Shape;215;p24"/>
            <p:cNvSpPr/>
            <p:nvPr/>
          </p:nvSpPr>
          <p:spPr>
            <a:xfrm>
              <a:off x="501909" y="3596778"/>
              <a:ext cx="8382000" cy="857400"/>
            </a:xfrm>
            <a:prstGeom prst="roundRect">
              <a:avLst>
                <a:gd fmla="val 16666" name="adj"/>
              </a:avLst>
            </a:prstGeom>
            <a:solidFill>
              <a:srgbClr val="112240"/>
            </a:solidFill>
            <a:ln cap="flat" cmpd="sng" w="116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4"/>
            <p:cNvSpPr txBox="1"/>
            <p:nvPr/>
          </p:nvSpPr>
          <p:spPr>
            <a:xfrm>
              <a:off x="619125" y="3667125"/>
              <a:ext cx="7905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25"/>
                </a:spcAft>
                <a:buNone/>
              </a:pPr>
              <a:r>
                <a:rPr b="1" lang="es" sz="1007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 Conclusión</a:t>
              </a:r>
              <a:endParaRPr b="1" sz="1007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7" name="Google Shape;217;p24"/>
            <p:cNvSpPr txBox="1"/>
            <p:nvPr/>
          </p:nvSpPr>
          <p:spPr>
            <a:xfrm>
              <a:off x="619125" y="3952875"/>
              <a:ext cx="7905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239805" lvl="0" marL="371311" rtl="0" algn="l">
                <a:spcBef>
                  <a:spcPts val="0"/>
                </a:spcBef>
                <a:spcAft>
                  <a:spcPts val="325"/>
                </a:spcAft>
                <a:buClr>
                  <a:srgbClr val="CCD6F6"/>
                </a:buClr>
                <a:buSzPts val="853"/>
                <a:buFont typeface="Roboto"/>
                <a:buChar char="●"/>
              </a:pPr>
              <a:r>
                <a:rPr b="0" lang="es" sz="853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Estas variables muestran </a:t>
              </a:r>
              <a:r>
                <a:rPr b="1" lang="es" sz="853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alta capacidad de separación</a:t>
              </a:r>
              <a:r>
                <a:rPr b="0" lang="es" sz="853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y justifican su uso como features principales del modelo.</a:t>
              </a:r>
              <a:endParaRPr b="0" sz="853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218" name="Google Shape;218;p24"/>
          <p:cNvPicPr preferRelativeResize="0"/>
          <p:nvPr/>
        </p:nvPicPr>
        <p:blipFill rotWithShape="1">
          <a:blip r:embed="rId4">
            <a:alphaModFix/>
          </a:blip>
          <a:srcRect b="0" l="40" r="40" t="0"/>
          <a:stretch/>
        </p:blipFill>
        <p:spPr>
          <a:xfrm>
            <a:off x="7686675" y="4315575"/>
            <a:ext cx="871800" cy="78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74150" y="2255526"/>
            <a:ext cx="2595700" cy="200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2300" y="2241651"/>
            <a:ext cx="2595700" cy="2028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96014" y="2289275"/>
            <a:ext cx="2466975" cy="1933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"/>
          <p:cNvSpPr txBox="1"/>
          <p:nvPr/>
        </p:nvSpPr>
        <p:spPr>
          <a:xfrm>
            <a:off x="381000" y="2857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50"/>
              </a:spcAft>
              <a:buNone/>
            </a:pPr>
            <a:r>
              <a:rPr b="0" lang="es" sz="2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Jerarquía y Selección de Features</a:t>
            </a:r>
            <a:endParaRPr b="0" sz="28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226" name="Google Shape;226;p25"/>
          <p:cNvGrpSpPr/>
          <p:nvPr/>
        </p:nvGrpSpPr>
        <p:grpSpPr>
          <a:xfrm>
            <a:off x="371475" y="1038225"/>
            <a:ext cx="2686200" cy="3257700"/>
            <a:chOff x="371475" y="1038225"/>
            <a:chExt cx="2686200" cy="3257700"/>
          </a:xfrm>
        </p:grpSpPr>
        <p:pic>
          <p:nvPicPr>
            <p:cNvPr id="227" name="Google Shape;22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1475" y="1038225"/>
              <a:ext cx="2686200" cy="325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25"/>
            <p:cNvSpPr txBox="1"/>
            <p:nvPr/>
          </p:nvSpPr>
          <p:spPr>
            <a:xfrm>
              <a:off x="571500" y="1190625"/>
              <a:ext cx="2286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es" sz="14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Features Principales</a:t>
              </a:r>
              <a:endParaRPr b="1" sz="14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9" name="Google Shape;229;p25"/>
            <p:cNvSpPr txBox="1"/>
            <p:nvPr/>
          </p:nvSpPr>
          <p:spPr>
            <a:xfrm>
              <a:off x="571500" y="1571625"/>
              <a:ext cx="22860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52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CCD6F6"/>
                </a:buClr>
                <a:buSzPts val="1050"/>
                <a:buFont typeface="Roboto"/>
                <a:buChar char="●"/>
              </a:pPr>
              <a:r>
                <a:rPr b="1" lang="es" sz="1050">
                  <a:solidFill>
                    <a:srgbClr val="81D4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ip_rarity</a:t>
              </a:r>
              <a:r>
                <a:rPr b="0" lang="es" sz="10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: Detecta IPs inusuales para el perfil del usuario.</a:t>
              </a:r>
              <a:endParaRPr b="0" sz="10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CCD6F6"/>
                </a:buClr>
                <a:buSzPts val="1050"/>
                <a:buFont typeface="Roboto"/>
                <a:buChar char="●"/>
              </a:pPr>
              <a:r>
                <a:rPr b="1" lang="es" sz="1050">
                  <a:solidFill>
                    <a:srgbClr val="81D4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hour_deviation</a:t>
              </a:r>
              <a:r>
                <a:rPr b="0" lang="es" sz="10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: Captura desviaciones respecto al patrón horario habitual.</a:t>
              </a:r>
              <a:endParaRPr b="0" sz="10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CCD6F6"/>
                </a:buClr>
                <a:buSzPts val="1050"/>
                <a:buFont typeface="Roboto"/>
                <a:buChar char="●"/>
              </a:pPr>
              <a:r>
                <a:rPr b="1" lang="es" sz="1050">
                  <a:solidFill>
                    <a:srgbClr val="81D4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time_diff_log</a:t>
              </a:r>
              <a:r>
                <a:rPr b="0" lang="es" sz="10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: Identifica actividad rápida o automatizada (bots).</a:t>
              </a:r>
              <a:endParaRPr b="0" sz="10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0" name="Google Shape;230;p25"/>
          <p:cNvGrpSpPr/>
          <p:nvPr/>
        </p:nvGrpSpPr>
        <p:grpSpPr>
          <a:xfrm>
            <a:off x="3228975" y="1038225"/>
            <a:ext cx="2686200" cy="3257700"/>
            <a:chOff x="3228975" y="1038225"/>
            <a:chExt cx="2686200" cy="3257700"/>
          </a:xfrm>
        </p:grpSpPr>
        <p:pic>
          <p:nvPicPr>
            <p:cNvPr id="231" name="Google Shape;231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228975" y="1038225"/>
              <a:ext cx="2686200" cy="325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" name="Google Shape;232;p25"/>
            <p:cNvSpPr txBox="1"/>
            <p:nvPr/>
          </p:nvSpPr>
          <p:spPr>
            <a:xfrm>
              <a:off x="3429000" y="1190625"/>
              <a:ext cx="2286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es" sz="140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Complementarias</a:t>
              </a:r>
              <a:endParaRPr b="1" sz="1400">
                <a:solidFill>
                  <a:srgbClr val="FFC10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3" name="Google Shape;233;p25"/>
            <p:cNvSpPr txBox="1"/>
            <p:nvPr/>
          </p:nvSpPr>
          <p:spPr>
            <a:xfrm>
              <a:off x="3429000" y="1571625"/>
              <a:ext cx="22860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52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CCD6F6"/>
                </a:buClr>
                <a:buSzPts val="1050"/>
                <a:buFont typeface="Roboto"/>
                <a:buChar char="●"/>
              </a:pPr>
              <a:r>
                <a:rPr b="1" lang="es" sz="1050">
                  <a:solidFill>
                    <a:srgbClr val="81D4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ip_change</a:t>
              </a:r>
              <a:r>
                <a:rPr b="0" lang="es" sz="10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: Útil en combinación con la rareza para detectar saltos de red.</a:t>
              </a:r>
              <a:endParaRPr b="0" sz="10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CCD6F6"/>
                </a:buClr>
                <a:buSzPts val="1050"/>
                <a:buFont typeface="Roboto"/>
                <a:buChar char="●"/>
              </a:pPr>
              <a:r>
                <a:rPr b="1" lang="es" sz="1050">
                  <a:solidFill>
                    <a:srgbClr val="81D4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device_rarity</a:t>
              </a:r>
              <a:r>
                <a:rPr b="0" lang="es" sz="10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: Presenta baja variabilidad; menor impacto discriminativo.</a:t>
              </a:r>
              <a:endParaRPr b="0" sz="10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4" name="Google Shape;234;p25"/>
          <p:cNvGrpSpPr/>
          <p:nvPr/>
        </p:nvGrpSpPr>
        <p:grpSpPr>
          <a:xfrm>
            <a:off x="6086475" y="1038225"/>
            <a:ext cx="2686200" cy="3257700"/>
            <a:chOff x="6086475" y="1038225"/>
            <a:chExt cx="2686200" cy="3257700"/>
          </a:xfrm>
        </p:grpSpPr>
        <p:pic>
          <p:nvPicPr>
            <p:cNvPr id="235" name="Google Shape;23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086475" y="1038225"/>
              <a:ext cx="2686200" cy="325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" name="Google Shape;236;p25"/>
            <p:cNvSpPr txBox="1"/>
            <p:nvPr/>
          </p:nvSpPr>
          <p:spPr>
            <a:xfrm>
              <a:off x="6286500" y="1190625"/>
              <a:ext cx="2286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es" sz="1400">
                  <a:solidFill>
                    <a:srgbClr val="F44336"/>
                  </a:solidFill>
                  <a:latin typeface="Roboto"/>
                  <a:ea typeface="Roboto"/>
                  <a:cs typeface="Roboto"/>
                  <a:sym typeface="Roboto"/>
                </a:rPr>
                <a:t>Descartadas</a:t>
              </a:r>
              <a:endParaRPr b="1" sz="1400">
                <a:solidFill>
                  <a:srgbClr val="F4433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7" name="Google Shape;237;p25"/>
            <p:cNvSpPr txBox="1"/>
            <p:nvPr/>
          </p:nvSpPr>
          <p:spPr>
            <a:xfrm>
              <a:off x="6286500" y="1571625"/>
              <a:ext cx="22860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52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CCD6F6"/>
                </a:buClr>
                <a:buSzPts val="1050"/>
                <a:buFont typeface="Roboto"/>
                <a:buChar char="●"/>
              </a:pPr>
              <a:r>
                <a:rPr b="1" lang="es" sz="1050">
                  <a:solidFill>
                    <a:srgbClr val="81D4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device_change</a:t>
              </a:r>
              <a:r>
                <a:rPr b="0" lang="es" sz="10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: Comportamiento frecuente entre usuarios; poco discriminativo.</a:t>
              </a:r>
              <a:endParaRPr b="0" sz="10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CCD6F6"/>
                </a:buClr>
                <a:buSzPts val="1050"/>
                <a:buFont typeface="Roboto"/>
                <a:buChar char="●"/>
              </a:pPr>
              <a:r>
                <a:rPr b="1" lang="es" sz="1050">
                  <a:solidFill>
                    <a:srgbClr val="81D4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login_velocity</a:t>
              </a:r>
              <a:r>
                <a:rPr b="0" lang="es" sz="10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: Altamente afectada por outliers; genera ruido en el modelo.</a:t>
              </a:r>
              <a:endParaRPr b="0" sz="10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238" name="Google Shape;238;p25"/>
          <p:cNvPicPr preferRelativeResize="0"/>
          <p:nvPr/>
        </p:nvPicPr>
        <p:blipFill rotWithShape="1">
          <a:blip r:embed="rId7">
            <a:alphaModFix/>
          </a:blip>
          <a:srcRect b="1301" l="0" r="1078" t="108"/>
          <a:stretch/>
        </p:blipFill>
        <p:spPr>
          <a:xfrm>
            <a:off x="7877175" y="4314825"/>
            <a:ext cx="876300" cy="7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 txBox="1"/>
          <p:nvPr/>
        </p:nvSpPr>
        <p:spPr>
          <a:xfrm>
            <a:off x="381000" y="2857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2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Construcción de señales de anomalía (</a:t>
            </a:r>
            <a:r>
              <a:rPr lang="es" sz="2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reglas</a:t>
            </a:r>
            <a:r>
              <a:rPr b="0" lang="es" sz="2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)</a:t>
            </a:r>
            <a:endParaRPr b="0" sz="28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243" name="Google Shape;243;p26"/>
          <p:cNvGrpSpPr/>
          <p:nvPr/>
        </p:nvGrpSpPr>
        <p:grpSpPr>
          <a:xfrm>
            <a:off x="381000" y="952500"/>
            <a:ext cx="2667000" cy="1714500"/>
            <a:chOff x="381000" y="952500"/>
            <a:chExt cx="2667000" cy="1714500"/>
          </a:xfrm>
        </p:grpSpPr>
        <p:sp>
          <p:nvSpPr>
            <p:cNvPr id="244" name="Google Shape;244;p26"/>
            <p:cNvSpPr/>
            <p:nvPr/>
          </p:nvSpPr>
          <p:spPr>
            <a:xfrm>
              <a:off x="381000" y="952500"/>
              <a:ext cx="2667000" cy="1714500"/>
            </a:xfrm>
            <a:prstGeom prst="roundRect">
              <a:avLst>
                <a:gd fmla="val 5555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6"/>
            <p:cNvSpPr txBox="1"/>
            <p:nvPr/>
          </p:nvSpPr>
          <p:spPr>
            <a:xfrm>
              <a:off x="523875" y="1095375"/>
              <a:ext cx="2381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4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 ip_anomaly</a:t>
              </a:r>
              <a:endParaRPr b="1" sz="14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s" sz="100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IP inusual + cambio (p90)</a:t>
              </a:r>
              <a:endParaRPr b="1" sz="1000">
                <a:solidFill>
                  <a:srgbClr val="FFC107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150"/>
                </a:spcAft>
                <a:buClr>
                  <a:srgbClr val="CCD6F6"/>
                </a:buClr>
                <a:buSzPts val="1000"/>
                <a:buFont typeface="Roboto"/>
                <a:buChar char="●"/>
              </a:pPr>
              <a:r>
                <a:rPr b="0" lang="es" sz="10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Supuesto: Las IPs raras son comunes, pero un cambio a una infrecuente indica desviación.</a:t>
              </a:r>
              <a:endParaRPr b="0" sz="10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3238500" y="952500"/>
            <a:ext cx="2667000" cy="1714500"/>
            <a:chOff x="3238500" y="952500"/>
            <a:chExt cx="2667000" cy="1714500"/>
          </a:xfrm>
        </p:grpSpPr>
        <p:sp>
          <p:nvSpPr>
            <p:cNvPr id="247" name="Google Shape;247;p26"/>
            <p:cNvSpPr/>
            <p:nvPr/>
          </p:nvSpPr>
          <p:spPr>
            <a:xfrm>
              <a:off x="3238500" y="952500"/>
              <a:ext cx="2667000" cy="1714500"/>
            </a:xfrm>
            <a:prstGeom prst="roundRect">
              <a:avLst>
                <a:gd fmla="val 5555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6"/>
            <p:cNvSpPr txBox="1"/>
            <p:nvPr/>
          </p:nvSpPr>
          <p:spPr>
            <a:xfrm>
              <a:off x="3381375" y="1095375"/>
              <a:ext cx="2381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4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 time_anomaly</a:t>
              </a:r>
              <a:endParaRPr b="1" sz="14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s" sz="100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Logins rápidos (p5)</a:t>
              </a:r>
              <a:endParaRPr b="1" sz="1000">
                <a:solidFill>
                  <a:srgbClr val="FFC107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150"/>
                </a:spcAft>
                <a:buClr>
                  <a:srgbClr val="CCD6F6"/>
                </a:buClr>
                <a:buSzPts val="1000"/>
                <a:buFont typeface="Roboto"/>
                <a:buChar char="●"/>
              </a:pPr>
              <a:r>
                <a:rPr b="0" lang="es" sz="10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Supuesto: Patrón de tiempo estable. Intervalos bajos indican automatización.</a:t>
              </a:r>
              <a:endParaRPr b="0" sz="10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9" name="Google Shape;249;p26"/>
          <p:cNvGrpSpPr/>
          <p:nvPr/>
        </p:nvGrpSpPr>
        <p:grpSpPr>
          <a:xfrm>
            <a:off x="6096000" y="952500"/>
            <a:ext cx="2667000" cy="1714500"/>
            <a:chOff x="6096000" y="952500"/>
            <a:chExt cx="2667000" cy="1714500"/>
          </a:xfrm>
        </p:grpSpPr>
        <p:sp>
          <p:nvSpPr>
            <p:cNvPr id="250" name="Google Shape;250;p26"/>
            <p:cNvSpPr/>
            <p:nvPr/>
          </p:nvSpPr>
          <p:spPr>
            <a:xfrm>
              <a:off x="6096000" y="952500"/>
              <a:ext cx="2667000" cy="1714500"/>
            </a:xfrm>
            <a:prstGeom prst="roundRect">
              <a:avLst>
                <a:gd fmla="val 5555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6"/>
            <p:cNvSpPr txBox="1"/>
            <p:nvPr/>
          </p:nvSpPr>
          <p:spPr>
            <a:xfrm>
              <a:off x="6238875" y="1095375"/>
              <a:ext cx="2381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1" lang="es" sz="14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hour_anomaly</a:t>
              </a:r>
              <a:endParaRPr b="1" sz="14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s" sz="100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Desvío horario (p95)</a:t>
              </a:r>
              <a:endParaRPr b="1" sz="1000">
                <a:solidFill>
                  <a:srgbClr val="FFC107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150"/>
                </a:spcAft>
                <a:buClr>
                  <a:srgbClr val="CCD6F6"/>
                </a:buClr>
                <a:buSzPts val="1000"/>
                <a:buFont typeface="Roboto"/>
                <a:buChar char="●"/>
              </a:pPr>
              <a:r>
                <a:rPr b="0" lang="es" sz="10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Supuesto: Usuarios con horarios fijos. Accesos fuera de rutina son anómalos.</a:t>
              </a:r>
              <a:endParaRPr b="0" sz="10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2" name="Google Shape;252;p26"/>
          <p:cNvGrpSpPr/>
          <p:nvPr/>
        </p:nvGrpSpPr>
        <p:grpSpPr>
          <a:xfrm>
            <a:off x="381000" y="2857500"/>
            <a:ext cx="5524500" cy="1428900"/>
            <a:chOff x="381000" y="2857500"/>
            <a:chExt cx="5524500" cy="1428900"/>
          </a:xfrm>
        </p:grpSpPr>
        <p:sp>
          <p:nvSpPr>
            <p:cNvPr id="253" name="Google Shape;253;p26"/>
            <p:cNvSpPr/>
            <p:nvPr/>
          </p:nvSpPr>
          <p:spPr>
            <a:xfrm>
              <a:off x="381000" y="2857500"/>
              <a:ext cx="5524500" cy="1428900"/>
            </a:xfrm>
            <a:prstGeom prst="roundRect">
              <a:avLst>
                <a:gd fmla="val 6666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6"/>
            <p:cNvSpPr txBox="1"/>
            <p:nvPr/>
          </p:nvSpPr>
          <p:spPr>
            <a:xfrm>
              <a:off x="571500" y="3000375"/>
              <a:ext cx="2667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4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 Enfoque de Baselines</a:t>
              </a:r>
              <a:endParaRPr b="1" sz="14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CD6F6"/>
                </a:buClr>
                <a:buSzPts val="1000"/>
                <a:buFont typeface="Roboto"/>
                <a:buChar char="●"/>
              </a:pPr>
              <a:r>
                <a:rPr b="0" lang="es" sz="10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Uso de percentiles por usuario.</a:t>
              </a:r>
              <a:endParaRPr b="0" sz="10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CCD6F6"/>
                </a:buClr>
                <a:buSzPts val="1000"/>
                <a:buFont typeface="Roboto"/>
                <a:buChar char="●"/>
              </a:pPr>
              <a:r>
                <a:rPr b="0" lang="es" sz="10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Cada usuario tiene su propio perfil histórico.</a:t>
              </a:r>
              <a:endParaRPr b="0" sz="10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150"/>
                </a:spcBef>
                <a:spcAft>
                  <a:spcPts val="150"/>
                </a:spcAft>
                <a:buClr>
                  <a:srgbClr val="CCD6F6"/>
                </a:buClr>
                <a:buSzPts val="1000"/>
                <a:buFont typeface="Roboto"/>
                <a:buChar char="●"/>
              </a:pPr>
              <a:r>
                <a:rPr b="0" lang="es" sz="10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Detecta desviaciones </a:t>
              </a:r>
              <a:r>
                <a:rPr b="1" lang="es" sz="10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relativas</a:t>
              </a:r>
              <a:r>
                <a:rPr b="0" lang="es" sz="10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, no absolutas.</a:t>
              </a:r>
              <a:endParaRPr b="0" sz="10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55" name="Google Shape;255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424238" y="3000375"/>
              <a:ext cx="9600" cy="1143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6" name="Google Shape;256;p26"/>
            <p:cNvSpPr txBox="1"/>
            <p:nvPr/>
          </p:nvSpPr>
          <p:spPr>
            <a:xfrm>
              <a:off x="3619500" y="3000375"/>
              <a:ext cx="2095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4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Risk Score</a:t>
              </a:r>
              <a:endParaRPr b="1" sz="14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rgbClr val="81D4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2 * ip_anomaly +</a:t>
              </a:r>
              <a:endParaRPr b="1" sz="1200">
                <a:solidFill>
                  <a:srgbClr val="81D4F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rgbClr val="81D4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 * time_anomaly +</a:t>
              </a:r>
              <a:endParaRPr b="1" sz="1200">
                <a:solidFill>
                  <a:srgbClr val="81D4F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rgbClr val="81D4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 * hour_anomaly</a:t>
              </a:r>
              <a:endParaRPr b="1" sz="1200">
                <a:solidFill>
                  <a:srgbClr val="81D4F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s" sz="8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Señal de IP tiene peso crítico.</a:t>
              </a:r>
              <a:endParaRPr b="0" sz="8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7" name="Google Shape;257;p26"/>
          <p:cNvGrpSpPr/>
          <p:nvPr/>
        </p:nvGrpSpPr>
        <p:grpSpPr>
          <a:xfrm>
            <a:off x="6096000" y="2857500"/>
            <a:ext cx="2667000" cy="1428900"/>
            <a:chOff x="6096000" y="2857500"/>
            <a:chExt cx="2667000" cy="1428900"/>
          </a:xfrm>
        </p:grpSpPr>
        <p:sp>
          <p:nvSpPr>
            <p:cNvPr id="258" name="Google Shape;258;p26"/>
            <p:cNvSpPr/>
            <p:nvPr/>
          </p:nvSpPr>
          <p:spPr>
            <a:xfrm>
              <a:off x="6096000" y="2857500"/>
              <a:ext cx="2667000" cy="1428900"/>
            </a:xfrm>
            <a:prstGeom prst="roundRect">
              <a:avLst>
                <a:gd fmla="val 6666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6"/>
            <p:cNvSpPr txBox="1"/>
            <p:nvPr/>
          </p:nvSpPr>
          <p:spPr>
            <a:xfrm>
              <a:off x="6238875" y="3000375"/>
              <a:ext cx="2381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4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Validación</a:t>
              </a:r>
              <a:endParaRPr b="1" sz="14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2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~9.7%</a:t>
              </a:r>
              <a:endParaRPr b="1" sz="22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Anomalías detectadas</a:t>
              </a:r>
              <a:r>
                <a:rPr b="0" lang="es" sz="8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b="0" sz="8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457200" rtl="0" algn="l">
                <a:spcBef>
                  <a:spcPts val="0"/>
                </a:spcBef>
                <a:spcAft>
                  <a:spcPts val="150"/>
                </a:spcAft>
                <a:buNone/>
              </a:pPr>
              <a:r>
                <a:t/>
              </a:r>
              <a:endParaRPr b="0" sz="8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260" name="Google Shape;260;p26"/>
          <p:cNvPicPr preferRelativeResize="0"/>
          <p:nvPr/>
        </p:nvPicPr>
        <p:blipFill rotWithShape="1">
          <a:blip r:embed="rId5">
            <a:alphaModFix/>
          </a:blip>
          <a:srcRect b="288" l="0" r="0" t="288"/>
          <a:stretch/>
        </p:blipFill>
        <p:spPr>
          <a:xfrm>
            <a:off x="7905750" y="4314825"/>
            <a:ext cx="7620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7"/>
          <p:cNvSpPr txBox="1"/>
          <p:nvPr/>
        </p:nvSpPr>
        <p:spPr>
          <a:xfrm>
            <a:off x="381000" y="3810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296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Gestión del "Cold Start" y Madurez del Perfil</a:t>
            </a:r>
            <a:endParaRPr b="0" sz="296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65" name="Google Shape;265;p27"/>
          <p:cNvSpPr txBox="1"/>
          <p:nvPr/>
        </p:nvSpPr>
        <p:spPr>
          <a:xfrm>
            <a:off x="8096250" y="591820"/>
            <a:ext cx="6669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4000">
                <a:solidFill>
                  <a:srgbClr val="81D4FA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ac_unt</a:t>
            </a:r>
            <a:endParaRPr b="0" sz="4000">
              <a:solidFill>
                <a:srgbClr val="81D4FA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266" name="Google Shape;266;p27"/>
          <p:cNvSpPr/>
          <p:nvPr/>
        </p:nvSpPr>
        <p:spPr>
          <a:xfrm>
            <a:off x="381000" y="1143000"/>
            <a:ext cx="2947500" cy="1473300"/>
          </a:xfrm>
          <a:prstGeom prst="roundRect">
            <a:avLst>
              <a:gd fmla="val 10000" name="adj"/>
            </a:avLst>
          </a:prstGeom>
          <a:solidFill>
            <a:srgbClr val="112240"/>
          </a:solidFill>
          <a:ln cap="flat" cmpd="sng" w="14750">
            <a:solidFill>
              <a:srgbClr val="81D4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7"/>
          <p:cNvSpPr txBox="1"/>
          <p:nvPr/>
        </p:nvSpPr>
        <p:spPr>
          <a:xfrm>
            <a:off x="544760" y="1290316"/>
            <a:ext cx="2620200" cy="294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44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rPr>
              <a:t>El Desafío del Cold Start</a:t>
            </a:r>
            <a:endParaRPr b="1" sz="1444">
              <a:solidFill>
                <a:srgbClr val="81D4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27"/>
          <p:cNvSpPr txBox="1"/>
          <p:nvPr/>
        </p:nvSpPr>
        <p:spPr>
          <a:xfrm>
            <a:off x="544760" y="1634053"/>
            <a:ext cx="2620200" cy="834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1178" lvl="0" marL="471410" rtl="0" algn="l">
              <a:spcBef>
                <a:spcPts val="0"/>
              </a:spcBef>
              <a:spcAft>
                <a:spcPts val="0"/>
              </a:spcAft>
              <a:buClr>
                <a:srgbClr val="CCD6F6"/>
              </a:buClr>
              <a:buSzPts val="1031"/>
              <a:buFont typeface="Roboto"/>
              <a:buChar char="●"/>
            </a:pPr>
            <a:r>
              <a:rPr b="0" lang="es" sz="1031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rPr>
              <a:t>Modelos UEBA requieren historial para definir "normalidad".</a:t>
            </a:r>
            <a:endParaRPr b="0" sz="1031">
              <a:solidFill>
                <a:srgbClr val="CCD6F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1178" lvl="0" marL="471410" rtl="0" algn="l">
              <a:spcBef>
                <a:spcPts val="412"/>
              </a:spcBef>
              <a:spcAft>
                <a:spcPts val="0"/>
              </a:spcAft>
              <a:buClr>
                <a:srgbClr val="CCD6F6"/>
              </a:buClr>
              <a:buSzPts val="1031"/>
              <a:buFont typeface="Roboto"/>
              <a:buChar char="●"/>
            </a:pPr>
            <a:r>
              <a:rPr b="0" lang="es" sz="1031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rPr>
              <a:t>Percentiles (</a:t>
            </a:r>
            <a:r>
              <a:rPr b="1" lang="es" sz="1031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rPr>
              <a:t>P95</a:t>
            </a:r>
            <a:r>
              <a:rPr b="0" lang="es" sz="1031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rPr>
              <a:t>) son inestables con muestras pequeñas (</a:t>
            </a:r>
            <a:r>
              <a:rPr b="1" lang="es" sz="1031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rPr>
              <a:t>N &lt; 20</a:t>
            </a:r>
            <a:r>
              <a:rPr b="0" lang="es" sz="1031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b="0" sz="1031">
              <a:solidFill>
                <a:srgbClr val="CCD6F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27"/>
          <p:cNvSpPr/>
          <p:nvPr/>
        </p:nvSpPr>
        <p:spPr>
          <a:xfrm>
            <a:off x="3492437" y="1143000"/>
            <a:ext cx="2947500" cy="1473300"/>
          </a:xfrm>
          <a:prstGeom prst="roundRect">
            <a:avLst>
              <a:gd fmla="val 10000" name="adj"/>
            </a:avLst>
          </a:prstGeom>
          <a:solidFill>
            <a:srgbClr val="112240"/>
          </a:solidFill>
          <a:ln cap="flat" cmpd="sng" w="14750">
            <a:solidFill>
              <a:srgbClr val="81D4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7"/>
          <p:cNvSpPr txBox="1"/>
          <p:nvPr/>
        </p:nvSpPr>
        <p:spPr>
          <a:xfrm>
            <a:off x="3656196" y="1290316"/>
            <a:ext cx="2620200" cy="294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44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rPr>
              <a:t>Robustez </a:t>
            </a:r>
            <a:endParaRPr b="1" sz="1444">
              <a:solidFill>
                <a:srgbClr val="81D4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27"/>
          <p:cNvSpPr txBox="1"/>
          <p:nvPr/>
        </p:nvSpPr>
        <p:spPr>
          <a:xfrm>
            <a:off x="3656196" y="1634053"/>
            <a:ext cx="1146300" cy="834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928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rPr>
              <a:t>Volumen de sesiones:</a:t>
            </a:r>
            <a:endParaRPr b="0" sz="928">
              <a:solidFill>
                <a:srgbClr val="CCD6F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09"/>
              </a:spcBef>
              <a:spcAft>
                <a:spcPts val="0"/>
              </a:spcAft>
              <a:buNone/>
            </a:pPr>
            <a:r>
              <a:rPr b="0" lang="es" sz="928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rPr>
              <a:t>Mín: </a:t>
            </a:r>
            <a:r>
              <a:rPr b="1" lang="es" sz="16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137</a:t>
            </a:r>
            <a:endParaRPr b="0" sz="928">
              <a:solidFill>
                <a:srgbClr val="CCD6F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928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rPr>
              <a:t>Media: </a:t>
            </a:r>
            <a:r>
              <a:rPr b="1" lang="es" sz="16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189</a:t>
            </a:r>
            <a:endParaRPr b="0" sz="928">
              <a:solidFill>
                <a:srgbClr val="CCD6F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27"/>
          <p:cNvSpPr txBox="1"/>
          <p:nvPr/>
        </p:nvSpPr>
        <p:spPr>
          <a:xfrm>
            <a:off x="4884395" y="1634053"/>
            <a:ext cx="1392000" cy="834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928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rPr>
              <a:t>Perfiles actuales con </a:t>
            </a:r>
            <a:r>
              <a:rPr b="1" lang="es" sz="928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rPr>
              <a:t>alta significancia</a:t>
            </a:r>
            <a:r>
              <a:rPr b="0" lang="es" sz="928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rPr>
              <a:t>, permitiendo métricas fiables.</a:t>
            </a:r>
            <a:endParaRPr b="0" sz="928">
              <a:solidFill>
                <a:srgbClr val="CCD6F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27"/>
          <p:cNvSpPr/>
          <p:nvPr/>
        </p:nvSpPr>
        <p:spPr>
          <a:xfrm>
            <a:off x="381000" y="2763474"/>
            <a:ext cx="6059100" cy="1718700"/>
          </a:xfrm>
          <a:prstGeom prst="roundRect">
            <a:avLst>
              <a:gd fmla="val 8571" name="adj"/>
            </a:avLst>
          </a:prstGeom>
          <a:solidFill>
            <a:srgbClr val="112240"/>
          </a:solidFill>
          <a:ln cap="flat" cmpd="sng" w="14750">
            <a:solidFill>
              <a:srgbClr val="81D4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7"/>
          <p:cNvSpPr txBox="1"/>
          <p:nvPr/>
        </p:nvSpPr>
        <p:spPr>
          <a:xfrm>
            <a:off x="585700" y="2910790"/>
            <a:ext cx="5649900" cy="294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44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rPr>
              <a:t>Estrategia de Mitigación para Producción</a:t>
            </a:r>
            <a:endParaRPr b="1" sz="1444">
              <a:solidFill>
                <a:srgbClr val="81D4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27"/>
          <p:cNvSpPr txBox="1"/>
          <p:nvPr/>
        </p:nvSpPr>
        <p:spPr>
          <a:xfrm>
            <a:off x="585700" y="3303633"/>
            <a:ext cx="2620200" cy="982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31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rPr>
              <a:t>Umbral Híbrido</a:t>
            </a:r>
            <a:endParaRPr b="1" sz="1031">
              <a:solidFill>
                <a:srgbClr val="81D4F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09"/>
              </a:spcBef>
              <a:spcAft>
                <a:spcPts val="0"/>
              </a:spcAft>
              <a:buNone/>
            </a:pPr>
            <a:r>
              <a:rPr b="0" lang="es" sz="1031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rPr>
              <a:t>Uso de umbral poblacional para nuevos usuarios hasta alcanzar madurez.</a:t>
            </a:r>
            <a:endParaRPr b="0" sz="1031">
              <a:solidFill>
                <a:srgbClr val="CCD6F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27"/>
          <p:cNvSpPr txBox="1"/>
          <p:nvPr/>
        </p:nvSpPr>
        <p:spPr>
          <a:xfrm>
            <a:off x="3492437" y="3303633"/>
            <a:ext cx="2620200" cy="982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31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rPr>
              <a:t>Fase de Aprendizaje</a:t>
            </a:r>
            <a:endParaRPr b="1" sz="1031">
              <a:solidFill>
                <a:srgbClr val="81D4F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09"/>
              </a:spcBef>
              <a:spcAft>
                <a:spcPts val="0"/>
              </a:spcAft>
              <a:buNone/>
            </a:pPr>
            <a:r>
              <a:rPr b="0" lang="es" sz="1031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rPr>
              <a:t>Registros iniciales en observación mientras se construye el baseline.</a:t>
            </a:r>
            <a:endParaRPr b="0" sz="1031">
              <a:solidFill>
                <a:srgbClr val="CCD6F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7" name="Google Shape;277;p27"/>
          <p:cNvPicPr preferRelativeResize="0"/>
          <p:nvPr/>
        </p:nvPicPr>
        <p:blipFill rotWithShape="1">
          <a:blip r:embed="rId4">
            <a:alphaModFix/>
          </a:blip>
          <a:srcRect b="0" l="40" r="40" t="0"/>
          <a:stretch/>
        </p:blipFill>
        <p:spPr>
          <a:xfrm>
            <a:off x="7648575" y="4095750"/>
            <a:ext cx="1114500" cy="10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57325" y="1143000"/>
            <a:ext cx="2620200" cy="230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8"/>
          <p:cNvSpPr txBox="1"/>
          <p:nvPr/>
        </p:nvSpPr>
        <p:spPr>
          <a:xfrm>
            <a:off x="381000" y="2857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2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Generación de labels y explicabilidad (UEBA)</a:t>
            </a:r>
            <a:endParaRPr b="0" sz="28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283" name="Google Shape;283;p28"/>
          <p:cNvGrpSpPr/>
          <p:nvPr/>
        </p:nvGrpSpPr>
        <p:grpSpPr>
          <a:xfrm>
            <a:off x="381000" y="952500"/>
            <a:ext cx="4095900" cy="1714500"/>
            <a:chOff x="381000" y="952500"/>
            <a:chExt cx="4095900" cy="1714500"/>
          </a:xfrm>
        </p:grpSpPr>
        <p:sp>
          <p:nvSpPr>
            <p:cNvPr id="284" name="Google Shape;284;p28"/>
            <p:cNvSpPr/>
            <p:nvPr/>
          </p:nvSpPr>
          <p:spPr>
            <a:xfrm>
              <a:off x="381000" y="952500"/>
              <a:ext cx="4095900" cy="1714500"/>
            </a:xfrm>
            <a:prstGeom prst="roundRect">
              <a:avLst>
                <a:gd fmla="val 5555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8"/>
            <p:cNvSpPr txBox="1"/>
            <p:nvPr/>
          </p:nvSpPr>
          <p:spPr>
            <a:xfrm>
              <a:off x="523875" y="1095375"/>
              <a:ext cx="3810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95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 Labeling rule-based</a:t>
              </a:r>
              <a:endParaRPr b="1" sz="1295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s" sz="1110">
                  <a:solidFill>
                    <a:srgbClr val="81D4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label_rule = risk_score ≥ p95</a:t>
              </a:r>
              <a:endParaRPr b="1" sz="1110">
                <a:solidFill>
                  <a:srgbClr val="81D4F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b="0" sz="925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7338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CCD6F6"/>
                </a:buClr>
                <a:buSzPts val="925"/>
                <a:buFont typeface="Roboto"/>
                <a:buChar char="●"/>
              </a:pPr>
              <a:r>
                <a:rPr b="0" lang="es" sz="925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Detecta comportamientos más extremos</a:t>
              </a:r>
              <a:endParaRPr b="0" sz="925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7338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CCD6F6"/>
                </a:buClr>
                <a:buSzPts val="925"/>
                <a:buFont typeface="Roboto"/>
                <a:buChar char="●"/>
              </a:pPr>
              <a:r>
                <a:rPr b="0" lang="es" sz="925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Evita thresholds arbitrarios</a:t>
              </a:r>
              <a:endParaRPr b="0" sz="925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7338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CCD6F6"/>
                </a:buClr>
                <a:buSzPts val="925"/>
                <a:buFont typeface="Roboto"/>
                <a:buChar char="●"/>
              </a:pPr>
              <a:r>
                <a:rPr b="0" lang="es" sz="925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Adaptable a la distribución real de los datos</a:t>
              </a:r>
              <a:endParaRPr b="0" sz="925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s" sz="925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Resultado:</a:t>
              </a:r>
              <a:r>
                <a:rPr b="0" lang="es" sz="925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~9.7% anomalías detectadas</a:t>
              </a:r>
              <a:endParaRPr b="0" sz="925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86" name="Google Shape;286;p28"/>
          <p:cNvGrpSpPr/>
          <p:nvPr/>
        </p:nvGrpSpPr>
        <p:grpSpPr>
          <a:xfrm>
            <a:off x="4667250" y="952500"/>
            <a:ext cx="4095900" cy="1714500"/>
            <a:chOff x="4667250" y="952500"/>
            <a:chExt cx="4095900" cy="1714500"/>
          </a:xfrm>
        </p:grpSpPr>
        <p:sp>
          <p:nvSpPr>
            <p:cNvPr id="287" name="Google Shape;287;p28"/>
            <p:cNvSpPr/>
            <p:nvPr/>
          </p:nvSpPr>
          <p:spPr>
            <a:xfrm>
              <a:off x="4667250" y="952500"/>
              <a:ext cx="4095900" cy="1714500"/>
            </a:xfrm>
            <a:prstGeom prst="roundRect">
              <a:avLst>
                <a:gd fmla="val 5555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8"/>
            <p:cNvSpPr txBox="1"/>
            <p:nvPr/>
          </p:nvSpPr>
          <p:spPr>
            <a:xfrm>
              <a:off x="4810125" y="1095375"/>
              <a:ext cx="3810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95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Reportes con LLM (Gemini)</a:t>
              </a:r>
              <a:endParaRPr b="1" sz="1295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s" sz="925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Objetivo:</a:t>
              </a:r>
              <a:r>
                <a:rPr b="0" lang="es" sz="925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Traducir señales técnicas en explicaciones interpretables.</a:t>
              </a:r>
              <a:endParaRPr b="0" sz="925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s" sz="925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Proceso:</a:t>
              </a:r>
              <a:endParaRPr b="0" sz="925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7338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CCD6F6"/>
                </a:buClr>
                <a:buSzPts val="925"/>
                <a:buFont typeface="Roboto"/>
                <a:buAutoNum type="arabicPeriod"/>
              </a:pPr>
              <a:r>
                <a:rPr b="0" lang="es" sz="925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Selección de usuarios representativos</a:t>
              </a:r>
              <a:endParaRPr b="0" sz="925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7338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CCD6F6"/>
                </a:buClr>
                <a:buSzPts val="925"/>
                <a:buFont typeface="Roboto"/>
                <a:buAutoNum type="arabicPeriod"/>
              </a:pPr>
              <a:r>
                <a:rPr b="0" lang="es" sz="925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Construcción de resumen estructurado</a:t>
              </a:r>
              <a:endParaRPr b="0" sz="925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7338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CCD6F6"/>
                </a:buClr>
                <a:buSzPts val="925"/>
                <a:buFont typeface="Roboto"/>
                <a:buAutoNum type="arabicPeriod"/>
              </a:pPr>
              <a:r>
                <a:rPr b="0" lang="es" sz="925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Generación de reporte automático</a:t>
              </a:r>
              <a:endParaRPr b="0" sz="925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89" name="Google Shape;289;p28"/>
          <p:cNvGrpSpPr/>
          <p:nvPr/>
        </p:nvGrpSpPr>
        <p:grpSpPr>
          <a:xfrm>
            <a:off x="381000" y="2809875"/>
            <a:ext cx="8382000" cy="1571700"/>
            <a:chOff x="381000" y="2809875"/>
            <a:chExt cx="8382000" cy="1571700"/>
          </a:xfrm>
        </p:grpSpPr>
        <p:sp>
          <p:nvSpPr>
            <p:cNvPr id="290" name="Google Shape;290;p28"/>
            <p:cNvSpPr/>
            <p:nvPr/>
          </p:nvSpPr>
          <p:spPr>
            <a:xfrm>
              <a:off x="381000" y="2809875"/>
              <a:ext cx="8382000" cy="1571700"/>
            </a:xfrm>
            <a:prstGeom prst="roundRect">
              <a:avLst>
                <a:gd fmla="val 6060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8"/>
            <p:cNvSpPr txBox="1"/>
            <p:nvPr/>
          </p:nvSpPr>
          <p:spPr>
            <a:xfrm>
              <a:off x="523875" y="2905125"/>
              <a:ext cx="80964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95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 Ejemplo de output: user_84 — </a:t>
              </a:r>
              <a:r>
                <a:rPr b="1" lang="es" sz="1295">
                  <a:solidFill>
                    <a:srgbClr val="F44336"/>
                  </a:solidFill>
                  <a:latin typeface="Roboto"/>
                  <a:ea typeface="Roboto"/>
                  <a:cs typeface="Roboto"/>
                  <a:sym typeface="Roboto"/>
                </a:rPr>
                <a:t>ALERT (Riesgo Medio)</a:t>
              </a:r>
              <a:endParaRPr b="1" sz="1295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s" sz="925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Tasa de anomalía: </a:t>
              </a:r>
              <a:r>
                <a:rPr b="1" lang="es" sz="925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10.34%</a:t>
              </a:r>
              <a:endParaRPr b="0" sz="925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s" sz="925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Señales principales:</a:t>
              </a:r>
              <a:endParaRPr b="0" sz="925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7338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CCD6F6"/>
                </a:buClr>
                <a:buSzPts val="925"/>
                <a:buFont typeface="Roboto"/>
                <a:buChar char="●"/>
              </a:pPr>
              <a:r>
                <a:rPr b="0" lang="es" sz="925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11 eventos hour_anomaly (fuera de horario)</a:t>
              </a:r>
              <a:endParaRPr b="0" sz="925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7338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CCD6F6"/>
                </a:buClr>
                <a:buSzPts val="925"/>
                <a:buFont typeface="Roboto"/>
                <a:buChar char="●"/>
              </a:pPr>
              <a:r>
                <a:rPr b="0" lang="es" sz="925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7 eventos time_anomaly (logins rápidos)</a:t>
              </a:r>
              <a:endParaRPr b="0" sz="925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7338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CCD6F6"/>
                </a:buClr>
                <a:buSzPts val="925"/>
                <a:buFont typeface="Roboto"/>
                <a:buChar char="●"/>
              </a:pPr>
              <a:r>
                <a:rPr b="0" lang="es" sz="925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35 IPs únicas (rarity ~0.99)</a:t>
              </a:r>
              <a:endParaRPr b="0" sz="925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s" sz="925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 Interpretación:</a:t>
              </a:r>
              <a:r>
                <a:rPr b="0" lang="es" sz="925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Sugiere actividad fuera del patrón habitual. Causas posibles: Automatización, compromiso de cuenta o uso de VPN.</a:t>
              </a:r>
              <a:endParaRPr b="0" sz="925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292" name="Google Shape;292;p28"/>
          <p:cNvPicPr preferRelativeResize="0"/>
          <p:nvPr/>
        </p:nvPicPr>
        <p:blipFill rotWithShape="1">
          <a:blip r:embed="rId4">
            <a:alphaModFix/>
          </a:blip>
          <a:srcRect b="288" l="0" r="0" t="288"/>
          <a:stretch/>
        </p:blipFill>
        <p:spPr>
          <a:xfrm>
            <a:off x="7905750" y="4333875"/>
            <a:ext cx="7620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"/>
          <p:cNvSpPr txBox="1"/>
          <p:nvPr/>
        </p:nvSpPr>
        <p:spPr>
          <a:xfrm>
            <a:off x="381000" y="2857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2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Modelo ML </a:t>
            </a:r>
            <a:endParaRPr b="0" sz="28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297" name="Google Shape;297;p29"/>
          <p:cNvGrpSpPr/>
          <p:nvPr/>
        </p:nvGrpSpPr>
        <p:grpSpPr>
          <a:xfrm>
            <a:off x="381000" y="952500"/>
            <a:ext cx="2667000" cy="1428900"/>
            <a:chOff x="381000" y="952500"/>
            <a:chExt cx="2667000" cy="1428900"/>
          </a:xfrm>
        </p:grpSpPr>
        <p:sp>
          <p:nvSpPr>
            <p:cNvPr id="298" name="Google Shape;298;p29"/>
            <p:cNvSpPr/>
            <p:nvPr/>
          </p:nvSpPr>
          <p:spPr>
            <a:xfrm>
              <a:off x="381000" y="952500"/>
              <a:ext cx="2667000" cy="1428900"/>
            </a:xfrm>
            <a:prstGeom prst="roundRect">
              <a:avLst>
                <a:gd fmla="val 6666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9"/>
            <p:cNvSpPr txBox="1"/>
            <p:nvPr/>
          </p:nvSpPr>
          <p:spPr>
            <a:xfrm>
              <a:off x="523875" y="1047750"/>
              <a:ext cx="2381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5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 Selección del modelo</a:t>
              </a:r>
              <a:endParaRPr b="1" sz="1105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s" sz="85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Modelo:</a:t>
              </a: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1" lang="es" sz="850">
                  <a:solidFill>
                    <a:srgbClr val="81D4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Isolation Forest</a:t>
              </a:r>
              <a:endParaRPr b="0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25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CD6F6"/>
                </a:buClr>
                <a:buSzPts val="850"/>
                <a:buFont typeface="Roboto"/>
                <a:buChar char="●"/>
              </a:pP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No supervisado (sin labels)</a:t>
              </a:r>
              <a:endParaRPr b="0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2575" lvl="0" marL="457200" rtl="0" algn="l">
                <a:spcBef>
                  <a:spcPts val="225"/>
                </a:spcBef>
                <a:spcAft>
                  <a:spcPts val="0"/>
                </a:spcAft>
                <a:buClr>
                  <a:srgbClr val="CCD6F6"/>
                </a:buClr>
                <a:buSzPts val="850"/>
                <a:buFont typeface="Roboto"/>
                <a:buChar char="●"/>
              </a:pP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Outliers multidimensionales</a:t>
              </a:r>
              <a:endParaRPr b="0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2575" lvl="0" marL="457200" rtl="0" algn="l">
                <a:spcBef>
                  <a:spcPts val="225"/>
                </a:spcBef>
                <a:spcAft>
                  <a:spcPts val="225"/>
                </a:spcAft>
                <a:buClr>
                  <a:srgbClr val="CCD6F6"/>
                </a:buClr>
                <a:buSzPts val="850"/>
                <a:buFont typeface="Roboto"/>
                <a:buChar char="●"/>
              </a:pP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Robusto a desbalance</a:t>
              </a:r>
              <a:endParaRPr b="0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00" name="Google Shape;300;p29"/>
          <p:cNvGrpSpPr/>
          <p:nvPr/>
        </p:nvGrpSpPr>
        <p:grpSpPr>
          <a:xfrm>
            <a:off x="3238500" y="952500"/>
            <a:ext cx="2667000" cy="1428900"/>
            <a:chOff x="3238500" y="952500"/>
            <a:chExt cx="2667000" cy="1428900"/>
          </a:xfrm>
        </p:grpSpPr>
        <p:sp>
          <p:nvSpPr>
            <p:cNvPr id="301" name="Google Shape;301;p29"/>
            <p:cNvSpPr/>
            <p:nvPr/>
          </p:nvSpPr>
          <p:spPr>
            <a:xfrm>
              <a:off x="3238500" y="952500"/>
              <a:ext cx="2667000" cy="1428900"/>
            </a:xfrm>
            <a:prstGeom prst="roundRect">
              <a:avLst>
                <a:gd fmla="val 6666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9"/>
            <p:cNvSpPr txBox="1"/>
            <p:nvPr/>
          </p:nvSpPr>
          <p:spPr>
            <a:xfrm>
              <a:off x="3381375" y="1047750"/>
              <a:ext cx="2381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5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Pipeline aplicado</a:t>
              </a:r>
              <a:endParaRPr b="1" sz="1105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257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CCD6F6"/>
                </a:buClr>
                <a:buSzPts val="850"/>
                <a:buFont typeface="Roboto"/>
                <a:buChar char="●"/>
              </a:pP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Selección de features</a:t>
              </a:r>
              <a:endParaRPr b="0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2575" lvl="0" marL="457200" rtl="0" algn="l">
                <a:spcBef>
                  <a:spcPts val="225"/>
                </a:spcBef>
                <a:spcAft>
                  <a:spcPts val="0"/>
                </a:spcAft>
                <a:buClr>
                  <a:srgbClr val="CCD6F6"/>
                </a:buClr>
                <a:buSzPts val="850"/>
                <a:buFont typeface="Roboto"/>
                <a:buChar char="●"/>
              </a:pP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Normalización (MinMaxScaler)</a:t>
              </a:r>
              <a:endParaRPr b="0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2575" lvl="0" marL="457200" rtl="0" algn="l">
                <a:spcBef>
                  <a:spcPts val="225"/>
                </a:spcBef>
                <a:spcAft>
                  <a:spcPts val="0"/>
                </a:spcAft>
                <a:buClr>
                  <a:srgbClr val="CCD6F6"/>
                </a:buClr>
                <a:buSzPts val="850"/>
                <a:buFont typeface="Roboto"/>
                <a:buChar char="●"/>
              </a:pP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Entrenamiento del modelo</a:t>
              </a:r>
              <a:endParaRPr b="0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2575" lvl="0" marL="457200" rtl="0" algn="l">
                <a:spcBef>
                  <a:spcPts val="225"/>
                </a:spcBef>
                <a:spcAft>
                  <a:spcPts val="225"/>
                </a:spcAft>
                <a:buClr>
                  <a:srgbClr val="CCD6F6"/>
                </a:buClr>
                <a:buSzPts val="850"/>
                <a:buFont typeface="Roboto"/>
                <a:buChar char="●"/>
              </a:pP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Obtención de score continuo</a:t>
              </a:r>
              <a:endParaRPr b="0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03" name="Google Shape;303;p29"/>
          <p:cNvGrpSpPr/>
          <p:nvPr/>
        </p:nvGrpSpPr>
        <p:grpSpPr>
          <a:xfrm>
            <a:off x="6096000" y="952500"/>
            <a:ext cx="2667000" cy="1428900"/>
            <a:chOff x="6096000" y="952500"/>
            <a:chExt cx="2667000" cy="1428900"/>
          </a:xfrm>
        </p:grpSpPr>
        <p:sp>
          <p:nvSpPr>
            <p:cNvPr id="304" name="Google Shape;304;p29"/>
            <p:cNvSpPr/>
            <p:nvPr/>
          </p:nvSpPr>
          <p:spPr>
            <a:xfrm>
              <a:off x="6096000" y="952500"/>
              <a:ext cx="2667000" cy="1428900"/>
            </a:xfrm>
            <a:prstGeom prst="roundRect">
              <a:avLst>
                <a:gd fmla="val 6666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9"/>
            <p:cNvSpPr txBox="1"/>
            <p:nvPr/>
          </p:nvSpPr>
          <p:spPr>
            <a:xfrm>
              <a:off x="6238875" y="1047750"/>
              <a:ext cx="2381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5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Desbalance y UEBA</a:t>
              </a:r>
              <a:endParaRPr b="1" sz="1105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s" sz="85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Dataset:</a:t>
              </a: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~10% anomalías</a:t>
              </a:r>
              <a:endParaRPr b="0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2575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CCD6F6"/>
                </a:buClr>
                <a:buSzPts val="850"/>
                <a:buFont typeface="Roboto"/>
                <a:buChar char="●"/>
              </a:pPr>
              <a:r>
                <a:rPr b="1" lang="es" sz="85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Contamination:</a:t>
              </a: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proporción real</a:t>
              </a:r>
              <a:endParaRPr b="0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2575" lvl="0" marL="457200" rtl="0" algn="l">
                <a:spcBef>
                  <a:spcPts val="225"/>
                </a:spcBef>
                <a:spcAft>
                  <a:spcPts val="0"/>
                </a:spcAft>
                <a:buClr>
                  <a:srgbClr val="CCD6F6"/>
                </a:buClr>
                <a:buSzPts val="850"/>
                <a:buFont typeface="Roboto"/>
                <a:buChar char="●"/>
              </a:pPr>
              <a:r>
                <a:rPr b="1" lang="es" sz="85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Threshold:</a:t>
              </a: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p95 por usuario</a:t>
              </a:r>
              <a:endParaRPr b="0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Detecta anomalías relativas</a:t>
              </a:r>
              <a:endParaRPr b="0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06" name="Google Shape;306;p29"/>
          <p:cNvGrpSpPr/>
          <p:nvPr/>
        </p:nvGrpSpPr>
        <p:grpSpPr>
          <a:xfrm>
            <a:off x="381000" y="2571750"/>
            <a:ext cx="8382000" cy="1714500"/>
            <a:chOff x="381000" y="2571750"/>
            <a:chExt cx="8382000" cy="1714500"/>
          </a:xfrm>
        </p:grpSpPr>
        <p:sp>
          <p:nvSpPr>
            <p:cNvPr id="307" name="Google Shape;307;p29"/>
            <p:cNvSpPr/>
            <p:nvPr/>
          </p:nvSpPr>
          <p:spPr>
            <a:xfrm>
              <a:off x="381000" y="2571750"/>
              <a:ext cx="8382000" cy="1714500"/>
            </a:xfrm>
            <a:prstGeom prst="roundRect">
              <a:avLst>
                <a:gd fmla="val 5555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9"/>
            <p:cNvSpPr txBox="1"/>
            <p:nvPr/>
          </p:nvSpPr>
          <p:spPr>
            <a:xfrm>
              <a:off x="571500" y="2714625"/>
              <a:ext cx="80010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5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Ingeniería de Features e Insight</a:t>
              </a:r>
              <a:endParaRPr b="1" sz="1105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s" sz="85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Features:</a:t>
              </a:r>
              <a:endParaRPr b="0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25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CCD6F6"/>
                </a:buClr>
                <a:buSzPts val="850"/>
                <a:buFont typeface="Roboto"/>
                <a:buChar char="●"/>
              </a:pPr>
              <a:r>
                <a:rPr b="1" lang="es" sz="85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Principales:</a:t>
              </a: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time_diff, ip_rarity, hour_dev</a:t>
              </a:r>
              <a:endParaRPr b="0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2575" lvl="0" marL="457200" rtl="0" algn="l">
                <a:spcBef>
                  <a:spcPts val="225"/>
                </a:spcBef>
                <a:spcAft>
                  <a:spcPts val="0"/>
                </a:spcAft>
                <a:buClr>
                  <a:srgbClr val="CCD6F6"/>
                </a:buClr>
                <a:buSzPts val="850"/>
                <a:buFont typeface="Roboto"/>
                <a:buChar char="●"/>
              </a:pPr>
              <a:r>
                <a:rPr b="1" lang="es" sz="85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Derivadas:</a:t>
              </a: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ip_anomaly (reglas)</a:t>
              </a:r>
              <a:endParaRPr b="0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2575" lvl="0" marL="457200" rtl="0" algn="l">
                <a:spcBef>
                  <a:spcPts val="225"/>
                </a:spcBef>
                <a:spcAft>
                  <a:spcPts val="0"/>
                </a:spcAft>
                <a:buClr>
                  <a:srgbClr val="CCD6F6"/>
                </a:buClr>
                <a:buSzPts val="850"/>
                <a:buFont typeface="Roboto"/>
                <a:buChar char="●"/>
              </a:pPr>
              <a:r>
                <a:rPr b="1" lang="es" sz="85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Contexto ML:</a:t>
              </a: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ip_shared_extreme, ip_consistency</a:t>
              </a:r>
              <a:endParaRPr b="0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s" sz="85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Insight Clave:</a:t>
              </a:r>
              <a:endParaRPr b="0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Las reglas usan señales simples; el ML integra contexto para capturar patrones complejos.</a:t>
              </a:r>
              <a:endParaRPr b="0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s" sz="85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Evaluar enfoque alternativo al rule-based.</a:t>
              </a:r>
              <a:endParaRPr b="1" sz="85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309" name="Google Shape;309;p29"/>
          <p:cNvPicPr preferRelativeResize="0"/>
          <p:nvPr/>
        </p:nvPicPr>
        <p:blipFill rotWithShape="1">
          <a:blip r:embed="rId4">
            <a:alphaModFix/>
          </a:blip>
          <a:srcRect b="288" l="0" r="0" t="288"/>
          <a:stretch/>
        </p:blipFill>
        <p:spPr>
          <a:xfrm>
            <a:off x="7905750" y="4333875"/>
            <a:ext cx="7620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 txBox="1"/>
          <p:nvPr/>
        </p:nvSpPr>
        <p:spPr>
          <a:xfrm>
            <a:off x="381000" y="2857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0" lang="es" sz="2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Resultados y conclusiones </a:t>
            </a:r>
            <a:endParaRPr b="0" sz="28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314" name="Google Shape;314;p30"/>
          <p:cNvGrpSpPr/>
          <p:nvPr/>
        </p:nvGrpSpPr>
        <p:grpSpPr>
          <a:xfrm>
            <a:off x="381000" y="952500"/>
            <a:ext cx="2667000" cy="1238400"/>
            <a:chOff x="381000" y="952500"/>
            <a:chExt cx="2667000" cy="1238400"/>
          </a:xfrm>
        </p:grpSpPr>
        <p:sp>
          <p:nvSpPr>
            <p:cNvPr id="315" name="Google Shape;315;p30"/>
            <p:cNvSpPr/>
            <p:nvPr/>
          </p:nvSpPr>
          <p:spPr>
            <a:xfrm>
              <a:off x="381000" y="952500"/>
              <a:ext cx="2667000" cy="1238400"/>
            </a:xfrm>
            <a:prstGeom prst="roundRect">
              <a:avLst>
                <a:gd fmla="val 7692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0"/>
            <p:cNvSpPr txBox="1"/>
            <p:nvPr/>
          </p:nvSpPr>
          <p:spPr>
            <a:xfrm>
              <a:off x="523875" y="1047750"/>
              <a:ext cx="2381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Distribución de anomalías</a:t>
              </a:r>
              <a:endParaRPr b="1" sz="11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25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CCD6F6"/>
                </a:buClr>
                <a:buSzPts val="850"/>
                <a:buFont typeface="Roboto"/>
                <a:buChar char="●"/>
              </a:pP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Reglas: </a:t>
              </a:r>
              <a:r>
                <a:rPr b="1" lang="es" sz="900">
                  <a:solidFill>
                    <a:srgbClr val="FFC10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9.7%</a:t>
              </a:r>
              <a:endParaRPr b="0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2575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CCD6F6"/>
                </a:buClr>
                <a:buSzPts val="850"/>
                <a:buFont typeface="Roboto"/>
                <a:buChar char="●"/>
              </a:pP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Modelo ML: </a:t>
              </a:r>
              <a:r>
                <a:rPr b="1" lang="es" sz="900">
                  <a:solidFill>
                    <a:srgbClr val="FFC10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5.1%</a:t>
              </a:r>
              <a:endParaRPr b="0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300"/>
                </a:spcAft>
                <a:buNone/>
              </a:pP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El modelo es más </a:t>
              </a:r>
              <a:r>
                <a:rPr b="1" lang="es" sz="85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restrictivo y selectivo</a:t>
              </a: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b="0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17" name="Google Shape;317;p30"/>
          <p:cNvGrpSpPr/>
          <p:nvPr/>
        </p:nvGrpSpPr>
        <p:grpSpPr>
          <a:xfrm>
            <a:off x="3238500" y="952500"/>
            <a:ext cx="2667000" cy="1238400"/>
            <a:chOff x="3238500" y="952500"/>
            <a:chExt cx="2667000" cy="1238400"/>
          </a:xfrm>
        </p:grpSpPr>
        <p:sp>
          <p:nvSpPr>
            <p:cNvPr id="318" name="Google Shape;318;p30"/>
            <p:cNvSpPr/>
            <p:nvPr/>
          </p:nvSpPr>
          <p:spPr>
            <a:xfrm>
              <a:off x="3238500" y="952500"/>
              <a:ext cx="2667000" cy="1238400"/>
            </a:xfrm>
            <a:prstGeom prst="roundRect">
              <a:avLst>
                <a:gd fmla="val 7692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0"/>
            <p:cNvSpPr txBox="1"/>
            <p:nvPr/>
          </p:nvSpPr>
          <p:spPr>
            <a:xfrm>
              <a:off x="3381375" y="1047750"/>
              <a:ext cx="2381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Performance (vs reglas)</a:t>
              </a:r>
              <a:endParaRPr b="1" sz="11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Precision: </a:t>
              </a:r>
              <a:r>
                <a:rPr b="1" lang="es" sz="900">
                  <a:solidFill>
                    <a:srgbClr val="FFC10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0.61</a:t>
              </a:r>
              <a:b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Recall: </a:t>
              </a:r>
              <a:r>
                <a:rPr b="1" lang="es" sz="900">
                  <a:solidFill>
                    <a:srgbClr val="FFC10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0.32</a:t>
              </a:r>
              <a:b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F1-score: </a:t>
              </a:r>
              <a:r>
                <a:rPr b="1" lang="es" sz="900">
                  <a:solidFill>
                    <a:srgbClr val="FFC10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0.42</a:t>
              </a:r>
              <a:endParaRPr b="0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1" lang="es" sz="85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Interpretación:</a:t>
              </a: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Alta precisión (menos FP) vs bajo recall (selectividad).</a:t>
              </a:r>
              <a:endParaRPr b="0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20" name="Google Shape;320;p30"/>
          <p:cNvGrpSpPr/>
          <p:nvPr/>
        </p:nvGrpSpPr>
        <p:grpSpPr>
          <a:xfrm>
            <a:off x="6096000" y="952500"/>
            <a:ext cx="2667000" cy="1238400"/>
            <a:chOff x="6096000" y="952500"/>
            <a:chExt cx="2667000" cy="1238400"/>
          </a:xfrm>
        </p:grpSpPr>
        <p:sp>
          <p:nvSpPr>
            <p:cNvPr id="321" name="Google Shape;321;p30"/>
            <p:cNvSpPr/>
            <p:nvPr/>
          </p:nvSpPr>
          <p:spPr>
            <a:xfrm>
              <a:off x="6096000" y="952500"/>
              <a:ext cx="2667000" cy="1238400"/>
            </a:xfrm>
            <a:prstGeom prst="roundRect">
              <a:avLst>
                <a:gd fmla="val 7692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0"/>
            <p:cNvSpPr txBox="1"/>
            <p:nvPr/>
          </p:nvSpPr>
          <p:spPr>
            <a:xfrm>
              <a:off x="6238875" y="1047750"/>
              <a:ext cx="2381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Importancia de Features </a:t>
              </a:r>
              <a:endParaRPr b="1" sz="11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s" sz="85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Driver:</a:t>
              </a: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1" lang="es" sz="900">
                  <a:solidFill>
                    <a:srgbClr val="FFC10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hour_deviation</a:t>
              </a:r>
              <a:endParaRPr b="0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s" sz="85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Complementarias:</a:t>
              </a: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ip_rarity, ip_consistency</a:t>
              </a:r>
              <a:endParaRPr b="0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1" lang="es" sz="850">
                  <a:solidFill>
                    <a:srgbClr val="F44336"/>
                  </a:solidFill>
                  <a:latin typeface="Roboto"/>
                  <a:ea typeface="Roboto"/>
                  <a:cs typeface="Roboto"/>
                  <a:sym typeface="Roboto"/>
                </a:rPr>
                <a:t>Bajo impacto:</a:t>
              </a: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ip_shared_extreme</a:t>
              </a:r>
              <a:endParaRPr b="0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23" name="Google Shape;323;p30"/>
          <p:cNvGrpSpPr/>
          <p:nvPr/>
        </p:nvGrpSpPr>
        <p:grpSpPr>
          <a:xfrm>
            <a:off x="381000" y="2333625"/>
            <a:ext cx="4095900" cy="1952700"/>
            <a:chOff x="381000" y="2333625"/>
            <a:chExt cx="4095900" cy="1952700"/>
          </a:xfrm>
        </p:grpSpPr>
        <p:sp>
          <p:nvSpPr>
            <p:cNvPr id="324" name="Google Shape;324;p30"/>
            <p:cNvSpPr/>
            <p:nvPr/>
          </p:nvSpPr>
          <p:spPr>
            <a:xfrm>
              <a:off x="381000" y="2333625"/>
              <a:ext cx="4095900" cy="1952700"/>
            </a:xfrm>
            <a:prstGeom prst="roundRect">
              <a:avLst>
                <a:gd fmla="val 4878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0"/>
            <p:cNvSpPr txBox="1"/>
            <p:nvPr/>
          </p:nvSpPr>
          <p:spPr>
            <a:xfrm>
              <a:off x="523875" y="2428875"/>
              <a:ext cx="3810000" cy="17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Insight: Efecto time_diff_log</a:t>
              </a:r>
              <a:endParaRPr b="1" sz="11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Presenta un efecto inverso (diff negativo), lo que indica concentración en:</a:t>
              </a:r>
              <a:endParaRPr b="0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25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CCD6F6"/>
                </a:buClr>
                <a:buSzPts val="850"/>
                <a:buFont typeface="Roboto"/>
                <a:buChar char="●"/>
              </a:pP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Valores bajos (intervalos cortos).</a:t>
              </a:r>
              <a:endParaRPr b="0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s" sz="85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Consistente:</a:t>
              </a: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Actividad rápida → </a:t>
              </a:r>
              <a:r>
                <a:rPr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anómalo</a:t>
              </a:r>
              <a:r>
                <a:rPr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b="0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Rol del contexto en ML</a:t>
              </a:r>
              <a:endParaRPr b="1" sz="11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Permite distinguir entre variabilidad normal y comportamiento anómalo real.</a:t>
              </a:r>
              <a:endParaRPr b="0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26" name="Google Shape;326;p30"/>
          <p:cNvGrpSpPr/>
          <p:nvPr/>
        </p:nvGrpSpPr>
        <p:grpSpPr>
          <a:xfrm>
            <a:off x="4667250" y="2333625"/>
            <a:ext cx="4095900" cy="1952700"/>
            <a:chOff x="4667250" y="2333625"/>
            <a:chExt cx="4095900" cy="1952700"/>
          </a:xfrm>
        </p:grpSpPr>
        <p:sp>
          <p:nvSpPr>
            <p:cNvPr id="327" name="Google Shape;327;p30"/>
            <p:cNvSpPr/>
            <p:nvPr/>
          </p:nvSpPr>
          <p:spPr>
            <a:xfrm>
              <a:off x="4667250" y="2333625"/>
              <a:ext cx="4095900" cy="1952700"/>
            </a:xfrm>
            <a:prstGeom prst="roundRect">
              <a:avLst>
                <a:gd fmla="val 4878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0"/>
            <p:cNvSpPr txBox="1"/>
            <p:nvPr/>
          </p:nvSpPr>
          <p:spPr>
            <a:xfrm>
              <a:off x="4810125" y="2428875"/>
              <a:ext cx="3810000" cy="17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Comportamiento por usuario</a:t>
              </a:r>
              <a:endParaRPr b="1" sz="11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~5% anomalías por usuario (p95) con distribución homogénea.</a:t>
              </a:r>
              <a:endParaRPr b="0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Sistema consistente y sin sesgos.</a:t>
              </a:r>
              <a:endParaRPr b="0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Conclusión Final</a:t>
              </a:r>
              <a:endParaRPr b="1" sz="11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25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CCD6F6"/>
                </a:buClr>
                <a:buSzPts val="850"/>
                <a:buFont typeface="Roboto"/>
                <a:buChar char="●"/>
              </a:pPr>
              <a:r>
                <a:rPr b="1" lang="es" sz="85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Reglas:</a:t>
              </a: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Mayor cobertura y detección base.</a:t>
              </a:r>
              <a:endParaRPr b="0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2575" lvl="0" marL="457200" rtl="0" algn="l">
                <a:spcBef>
                  <a:spcPts val="150"/>
                </a:spcBef>
                <a:spcAft>
                  <a:spcPts val="150"/>
                </a:spcAft>
                <a:buClr>
                  <a:srgbClr val="CCD6F6"/>
                </a:buClr>
                <a:buSzPts val="850"/>
                <a:buFont typeface="Roboto"/>
                <a:buChar char="●"/>
              </a:pPr>
              <a:r>
                <a:rPr b="1" lang="es" sz="85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ML:</a:t>
              </a:r>
              <a:r>
                <a:rPr b="0" lang="es" sz="85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Mayor precisión, uso de contexto y reducción de ruido.</a:t>
              </a:r>
              <a:endParaRPr b="0" sz="85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329" name="Google Shape;329;p30"/>
          <p:cNvPicPr preferRelativeResize="0"/>
          <p:nvPr/>
        </p:nvPicPr>
        <p:blipFill rotWithShape="1">
          <a:blip r:embed="rId4">
            <a:alphaModFix/>
          </a:blip>
          <a:srcRect b="288" l="0" r="0" t="288"/>
          <a:stretch/>
        </p:blipFill>
        <p:spPr>
          <a:xfrm>
            <a:off x="7905750" y="4333875"/>
            <a:ext cx="7620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"/>
          <p:cNvSpPr txBox="1"/>
          <p:nvPr/>
        </p:nvSpPr>
        <p:spPr>
          <a:xfrm>
            <a:off x="381000" y="2857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Selección del Modelo Final: Experimentos y Trade-off </a:t>
            </a:r>
            <a:endParaRPr b="0" sz="2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334" name="Google Shape;334;p31"/>
          <p:cNvGrpSpPr/>
          <p:nvPr/>
        </p:nvGrpSpPr>
        <p:grpSpPr>
          <a:xfrm>
            <a:off x="381000" y="952500"/>
            <a:ext cx="2667000" cy="1047900"/>
            <a:chOff x="381000" y="952500"/>
            <a:chExt cx="2667000" cy="1047900"/>
          </a:xfrm>
        </p:grpSpPr>
        <p:sp>
          <p:nvSpPr>
            <p:cNvPr id="335" name="Google Shape;335;p31"/>
            <p:cNvSpPr/>
            <p:nvPr/>
          </p:nvSpPr>
          <p:spPr>
            <a:xfrm>
              <a:off x="381000" y="952500"/>
              <a:ext cx="2667000" cy="1047900"/>
            </a:xfrm>
            <a:prstGeom prst="roundRect">
              <a:avLst>
                <a:gd fmla="val 9090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1"/>
            <p:cNvSpPr txBox="1"/>
            <p:nvPr/>
          </p:nvSpPr>
          <p:spPr>
            <a:xfrm>
              <a:off x="523875" y="1047750"/>
              <a:ext cx="2381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0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Diseño del experimento</a:t>
              </a:r>
              <a:endParaRPr b="1" sz="10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s" sz="8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Se evaluaron combinaciones para analizar:</a:t>
              </a:r>
              <a:endParaRPr b="0" sz="8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794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CCD6F6"/>
                </a:buClr>
                <a:buSzPts val="800"/>
                <a:buFont typeface="Roboto"/>
                <a:buChar char="●"/>
              </a:pPr>
              <a:r>
                <a:rPr b="0" lang="es" sz="8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Capacidad de detección de anomalías</a:t>
              </a:r>
              <a:endParaRPr b="0" sz="8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7940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CCD6F6"/>
                </a:buClr>
                <a:buSzPts val="800"/>
                <a:buFont typeface="Roboto"/>
                <a:buChar char="●"/>
              </a:pPr>
              <a:r>
                <a:rPr b="0" lang="es" sz="8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Impacto del contexto adicional</a:t>
              </a:r>
              <a:endParaRPr b="0" sz="8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79400" lvl="0" marL="457200" rtl="0" algn="l">
                <a:spcBef>
                  <a:spcPts val="150"/>
                </a:spcBef>
                <a:spcAft>
                  <a:spcPts val="150"/>
                </a:spcAft>
                <a:buClr>
                  <a:srgbClr val="CCD6F6"/>
                </a:buClr>
                <a:buSzPts val="800"/>
                <a:buFont typeface="Roboto"/>
                <a:buChar char="●"/>
              </a:pPr>
              <a:r>
                <a:rPr b="0" lang="es" sz="8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Robustez del modelo</a:t>
              </a:r>
              <a:endParaRPr b="0" sz="8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37" name="Google Shape;337;p31"/>
          <p:cNvGrpSpPr/>
          <p:nvPr/>
        </p:nvGrpSpPr>
        <p:grpSpPr>
          <a:xfrm>
            <a:off x="3238500" y="952500"/>
            <a:ext cx="2667000" cy="1047900"/>
            <a:chOff x="3238500" y="952500"/>
            <a:chExt cx="2667000" cy="1047900"/>
          </a:xfrm>
        </p:grpSpPr>
        <p:sp>
          <p:nvSpPr>
            <p:cNvPr id="338" name="Google Shape;338;p31"/>
            <p:cNvSpPr/>
            <p:nvPr/>
          </p:nvSpPr>
          <p:spPr>
            <a:xfrm>
              <a:off x="3238500" y="952500"/>
              <a:ext cx="2667000" cy="1047900"/>
            </a:xfrm>
            <a:prstGeom prst="roundRect">
              <a:avLst>
                <a:gd fmla="val 9090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1"/>
            <p:cNvSpPr txBox="1"/>
            <p:nvPr/>
          </p:nvSpPr>
          <p:spPr>
            <a:xfrm>
              <a:off x="3381375" y="1047750"/>
              <a:ext cx="2381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0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Variaciones evaluadas</a:t>
              </a:r>
              <a:endParaRPr b="1" sz="10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Exp. A (Base):</a:t>
              </a:r>
              <a:r>
                <a:rPr b="0" lang="es" sz="8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time, ip, hour.</a:t>
              </a:r>
              <a:endParaRPr b="0" sz="8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Exp. B (Parcial):</a:t>
              </a:r>
              <a:r>
                <a:rPr b="0" lang="es" sz="8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Agrega ip_consistency.</a:t>
              </a:r>
              <a:endParaRPr b="0" sz="8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Exp. C (Extendido):</a:t>
              </a:r>
              <a:r>
                <a:rPr b="0" lang="es" sz="8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Agrega ip_anomaly y shared_extreme.</a:t>
              </a:r>
              <a:endParaRPr b="0" sz="8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40" name="Google Shape;340;p31"/>
          <p:cNvGrpSpPr/>
          <p:nvPr/>
        </p:nvGrpSpPr>
        <p:grpSpPr>
          <a:xfrm>
            <a:off x="6096000" y="952500"/>
            <a:ext cx="2667000" cy="1047900"/>
            <a:chOff x="6096000" y="952500"/>
            <a:chExt cx="2667000" cy="1047900"/>
          </a:xfrm>
        </p:grpSpPr>
        <p:sp>
          <p:nvSpPr>
            <p:cNvPr id="341" name="Google Shape;341;p31"/>
            <p:cNvSpPr/>
            <p:nvPr/>
          </p:nvSpPr>
          <p:spPr>
            <a:xfrm>
              <a:off x="6096000" y="952500"/>
              <a:ext cx="2667000" cy="1047900"/>
            </a:xfrm>
            <a:prstGeom prst="roundRect">
              <a:avLst>
                <a:gd fmla="val 9090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1"/>
            <p:cNvSpPr txBox="1"/>
            <p:nvPr/>
          </p:nvSpPr>
          <p:spPr>
            <a:xfrm>
              <a:off x="6238875" y="1047750"/>
              <a:ext cx="2381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0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Interpretación</a:t>
              </a:r>
              <a:endParaRPr b="1" sz="10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794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CCD6F6"/>
                </a:buClr>
                <a:buSzPts val="800"/>
                <a:buFont typeface="Roboto"/>
                <a:buChar char="●"/>
              </a:pPr>
              <a:r>
                <a:rPr b="1" lang="es" sz="80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hour_deviation:</a:t>
              </a:r>
              <a:r>
                <a:rPr b="0" lang="es" sz="8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domina en todo</a:t>
              </a:r>
              <a:endParaRPr b="0" sz="8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7940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CCD6F6"/>
                </a:buClr>
                <a:buSzPts val="800"/>
                <a:buFont typeface="Roboto"/>
                <a:buChar char="●"/>
              </a:pPr>
              <a:r>
                <a:rPr b="1" lang="es" sz="80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ip_rarity:</a:t>
              </a:r>
              <a:r>
                <a:rPr b="0" lang="es" sz="8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señal consistente</a:t>
              </a:r>
              <a:endParaRPr b="0" sz="8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79400" lvl="0" marL="457200" rtl="0" algn="l">
                <a:spcBef>
                  <a:spcPts val="150"/>
                </a:spcBef>
                <a:spcAft>
                  <a:spcPts val="150"/>
                </a:spcAft>
                <a:buClr>
                  <a:srgbClr val="CCD6F6"/>
                </a:buClr>
                <a:buSzPts val="800"/>
                <a:buFont typeface="Roboto"/>
                <a:buChar char="●"/>
              </a:pPr>
              <a:r>
                <a:rPr b="1" lang="es" sz="80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time_diff_log:</a:t>
              </a:r>
              <a:r>
                <a:rPr b="0" lang="es" sz="8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anomalías en ráfagas</a:t>
              </a:r>
              <a:endParaRPr b="0" sz="8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43" name="Google Shape;343;p31"/>
          <p:cNvGrpSpPr/>
          <p:nvPr/>
        </p:nvGrpSpPr>
        <p:grpSpPr>
          <a:xfrm>
            <a:off x="273650" y="2095644"/>
            <a:ext cx="4095900" cy="1392860"/>
            <a:chOff x="381000" y="2190750"/>
            <a:chExt cx="4095900" cy="1714500"/>
          </a:xfrm>
        </p:grpSpPr>
        <p:sp>
          <p:nvSpPr>
            <p:cNvPr id="344" name="Google Shape;344;p31"/>
            <p:cNvSpPr/>
            <p:nvPr/>
          </p:nvSpPr>
          <p:spPr>
            <a:xfrm>
              <a:off x="381000" y="2190750"/>
              <a:ext cx="4095900" cy="1714500"/>
            </a:xfrm>
            <a:prstGeom prst="roundRect">
              <a:avLst>
                <a:gd fmla="val 5555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1"/>
            <p:cNvSpPr txBox="1"/>
            <p:nvPr/>
          </p:nvSpPr>
          <p:spPr>
            <a:xfrm>
              <a:off x="523875" y="2286000"/>
              <a:ext cx="3810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0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Rol del contexto</a:t>
              </a:r>
              <a:endParaRPr b="1" sz="10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s" sz="8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ip_consistency, ip_anomaly, shared_extreme:</a:t>
              </a:r>
              <a:endParaRPr b="0" sz="8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794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CCD6F6"/>
                </a:buClr>
                <a:buSzPts val="800"/>
                <a:buFont typeface="Roboto"/>
                <a:buChar char="●"/>
              </a:pPr>
              <a:r>
                <a:rPr b="0" lang="es" sz="8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Bajo impacto en métricas</a:t>
              </a:r>
              <a:endParaRPr b="0" sz="8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7940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CCD6F6"/>
                </a:buClr>
                <a:buSzPts val="800"/>
                <a:buFont typeface="Roboto"/>
                <a:buChar char="●"/>
              </a:pPr>
              <a:r>
                <a:rPr b="0" lang="es" sz="8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No mejoran significativamente la detección</a:t>
              </a:r>
              <a:endParaRPr b="0" sz="8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s" sz="10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Pero aportan:</a:t>
              </a:r>
              <a:endParaRPr b="1" sz="10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794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CCD6F6"/>
                </a:buClr>
                <a:buSzPts val="800"/>
                <a:buFont typeface="Roboto"/>
                <a:buChar char="●"/>
              </a:pPr>
              <a:r>
                <a:rPr b="0" lang="es" sz="8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Caracterización del comportamiento</a:t>
              </a:r>
              <a:endParaRPr b="0" sz="8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79400" lvl="0" marL="457200" rtl="0" algn="l">
                <a:spcBef>
                  <a:spcPts val="150"/>
                </a:spcBef>
                <a:spcAft>
                  <a:spcPts val="150"/>
                </a:spcAft>
                <a:buClr>
                  <a:srgbClr val="CCD6F6"/>
                </a:buClr>
                <a:buSzPts val="800"/>
                <a:buFont typeface="Roboto"/>
                <a:buChar char="●"/>
              </a:pPr>
              <a:r>
                <a:rPr b="0" lang="es" sz="8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Contexto de red y soporte forense</a:t>
              </a:r>
              <a:endParaRPr b="0" sz="8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46" name="Google Shape;346;p31"/>
          <p:cNvGrpSpPr/>
          <p:nvPr/>
        </p:nvGrpSpPr>
        <p:grpSpPr>
          <a:xfrm>
            <a:off x="4667250" y="2190618"/>
            <a:ext cx="4095900" cy="1246442"/>
            <a:chOff x="4667250" y="2190750"/>
            <a:chExt cx="4095900" cy="1714500"/>
          </a:xfrm>
        </p:grpSpPr>
        <p:sp>
          <p:nvSpPr>
            <p:cNvPr id="347" name="Google Shape;347;p31"/>
            <p:cNvSpPr/>
            <p:nvPr/>
          </p:nvSpPr>
          <p:spPr>
            <a:xfrm>
              <a:off x="4667250" y="2190750"/>
              <a:ext cx="4095900" cy="1714500"/>
            </a:xfrm>
            <a:prstGeom prst="roundRect">
              <a:avLst>
                <a:gd fmla="val 5555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1"/>
            <p:cNvSpPr txBox="1"/>
            <p:nvPr/>
          </p:nvSpPr>
          <p:spPr>
            <a:xfrm>
              <a:off x="4810125" y="2286000"/>
              <a:ext cx="3810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0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 Conclusión</a:t>
              </a:r>
              <a:endParaRPr b="1" sz="10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794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CCD6F6"/>
                </a:buClr>
                <a:buSzPts val="800"/>
                <a:buFont typeface="Roboto"/>
                <a:buChar char="●"/>
              </a:pPr>
              <a:r>
                <a:rPr b="1" lang="es" sz="80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Exp. A:</a:t>
              </a:r>
              <a:r>
                <a:rPr b="0" lang="es" sz="8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Mejor performance (más simple)</a:t>
              </a:r>
              <a:endParaRPr b="0" sz="8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7940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CCD6F6"/>
                </a:buClr>
                <a:buSzPts val="800"/>
                <a:buFont typeface="Roboto"/>
                <a:buChar char="●"/>
              </a:pPr>
              <a:r>
                <a:rPr b="1" lang="es" sz="80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Exp. C:</a:t>
              </a:r>
              <a:r>
                <a:rPr b="0" lang="es" sz="8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Mayor riqueza contextual</a:t>
              </a:r>
              <a:endParaRPr b="0" sz="8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Selección Final (Exp. C):</a:t>
              </a:r>
              <a:r>
                <a:rPr b="0" lang="es" sz="8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Se prioriza la </a:t>
              </a:r>
              <a:r>
                <a:rPr b="0" lang="es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interpretabilidad y utilidad operativa</a:t>
              </a:r>
              <a:r>
                <a:rPr b="0" lang="es" sz="8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sobre la performance pura, con un costo marginal en métricas.</a:t>
              </a:r>
              <a:endParaRPr b="0" sz="8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349" name="Google Shape;349;p31"/>
          <p:cNvPicPr preferRelativeResize="0"/>
          <p:nvPr/>
        </p:nvPicPr>
        <p:blipFill rotWithShape="1">
          <a:blip r:embed="rId4">
            <a:alphaModFix/>
          </a:blip>
          <a:srcRect b="288" l="0" r="0" t="288"/>
          <a:stretch/>
        </p:blipFill>
        <p:spPr>
          <a:xfrm>
            <a:off x="7905750" y="4333875"/>
            <a:ext cx="762000" cy="6858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id="350" name="Google Shape;350;p31"/>
          <p:cNvPicPr preferRelativeResize="0"/>
          <p:nvPr/>
        </p:nvPicPr>
        <p:blipFill rotWithShape="1">
          <a:blip r:embed="rId5">
            <a:alphaModFix/>
          </a:blip>
          <a:srcRect b="3951" l="-1410" r="1410" t="3960"/>
          <a:stretch/>
        </p:blipFill>
        <p:spPr>
          <a:xfrm>
            <a:off x="2434600" y="3488499"/>
            <a:ext cx="4003900" cy="153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2"/>
          <p:cNvSpPr txBox="1"/>
          <p:nvPr/>
        </p:nvSpPr>
        <p:spPr>
          <a:xfrm>
            <a:off x="381000" y="2857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0" lang="es"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Análisis de Sensibilidad: Ponderación de Reglas </a:t>
            </a:r>
            <a:endParaRPr b="0" sz="2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355" name="Google Shape;355;p32"/>
          <p:cNvGrpSpPr/>
          <p:nvPr/>
        </p:nvGrpSpPr>
        <p:grpSpPr>
          <a:xfrm>
            <a:off x="381000" y="952500"/>
            <a:ext cx="2667000" cy="1428900"/>
            <a:chOff x="381000" y="952500"/>
            <a:chExt cx="2667000" cy="1428900"/>
          </a:xfrm>
        </p:grpSpPr>
        <p:sp>
          <p:nvSpPr>
            <p:cNvPr id="356" name="Google Shape;356;p32"/>
            <p:cNvSpPr/>
            <p:nvPr/>
          </p:nvSpPr>
          <p:spPr>
            <a:xfrm>
              <a:off x="381000" y="952500"/>
              <a:ext cx="2667000" cy="1428900"/>
            </a:xfrm>
            <a:prstGeom prst="roundRect">
              <a:avLst>
                <a:gd fmla="val 6666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2"/>
            <p:cNvSpPr txBox="1"/>
            <p:nvPr/>
          </p:nvSpPr>
          <p:spPr>
            <a:xfrm>
              <a:off x="523875" y="1095375"/>
              <a:ext cx="2381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Variaciones Evaluadas</a:t>
              </a:r>
              <a:endParaRPr b="1" sz="11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Impacto en el </a:t>
              </a:r>
              <a:r>
                <a:rPr b="1" lang="es" sz="90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risk_score</a:t>
              </a: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: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CCD6F6"/>
                </a:buClr>
                <a:buSzPts val="900"/>
                <a:buFont typeface="Roboto"/>
                <a:buChar char="●"/>
              </a:pPr>
              <a:r>
                <a:rPr b="1" lang="es" sz="950">
                  <a:solidFill>
                    <a:srgbClr val="FFC10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(2,1,1)</a:t>
              </a: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: Peso en IP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l">
                <a:spcBef>
                  <a:spcPts val="200"/>
                </a:spcBef>
                <a:spcAft>
                  <a:spcPts val="0"/>
                </a:spcAft>
                <a:buClr>
                  <a:srgbClr val="CCD6F6"/>
                </a:buClr>
                <a:buSzPts val="900"/>
                <a:buFont typeface="Roboto"/>
                <a:buChar char="●"/>
              </a:pPr>
              <a:r>
                <a:rPr b="1" lang="es" sz="950">
                  <a:solidFill>
                    <a:srgbClr val="FFC10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(1,2,1)</a:t>
              </a: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: Peso en Tiempo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l">
                <a:spcBef>
                  <a:spcPts val="200"/>
                </a:spcBef>
                <a:spcAft>
                  <a:spcPts val="200"/>
                </a:spcAft>
                <a:buClr>
                  <a:srgbClr val="CCD6F6"/>
                </a:buClr>
                <a:buSzPts val="900"/>
                <a:buFont typeface="Roboto"/>
                <a:buChar char="●"/>
              </a:pPr>
              <a:r>
                <a:rPr b="1" lang="es" sz="950">
                  <a:solidFill>
                    <a:srgbClr val="FFC10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(1,1,1)</a:t>
              </a: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: Pesos uniformes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8" name="Google Shape;358;p32"/>
          <p:cNvGrpSpPr/>
          <p:nvPr/>
        </p:nvGrpSpPr>
        <p:grpSpPr>
          <a:xfrm>
            <a:off x="3238500" y="952500"/>
            <a:ext cx="2667000" cy="1428900"/>
            <a:chOff x="3238500" y="952500"/>
            <a:chExt cx="2667000" cy="1428900"/>
          </a:xfrm>
        </p:grpSpPr>
        <p:sp>
          <p:nvSpPr>
            <p:cNvPr id="359" name="Google Shape;359;p32"/>
            <p:cNvSpPr/>
            <p:nvPr/>
          </p:nvSpPr>
          <p:spPr>
            <a:xfrm>
              <a:off x="3238500" y="952500"/>
              <a:ext cx="2667000" cy="1428900"/>
            </a:xfrm>
            <a:prstGeom prst="roundRect">
              <a:avLst>
                <a:gd fmla="val 6666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2"/>
            <p:cNvSpPr txBox="1"/>
            <p:nvPr/>
          </p:nvSpPr>
          <p:spPr>
            <a:xfrm>
              <a:off x="3381375" y="1095375"/>
              <a:ext cx="2381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Resultados (Estables)</a:t>
              </a:r>
              <a:endParaRPr b="1" sz="11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CD6F6"/>
                </a:buClr>
                <a:buSzPts val="900"/>
                <a:buFont typeface="Roboto"/>
                <a:buChar char="●"/>
              </a:pP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Label: </a:t>
              </a:r>
              <a:r>
                <a:rPr b="1" lang="es" sz="950">
                  <a:solidFill>
                    <a:srgbClr val="FFC10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~9.66%</a:t>
              </a: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(constante)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l">
                <a:spcBef>
                  <a:spcPts val="200"/>
                </a:spcBef>
                <a:spcAft>
                  <a:spcPts val="0"/>
                </a:spcAft>
                <a:buClr>
                  <a:srgbClr val="CCD6F6"/>
                </a:buClr>
                <a:buSzPts val="900"/>
                <a:buFont typeface="Roboto"/>
                <a:buChar char="●"/>
              </a:pP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Modelo: </a:t>
              </a:r>
              <a:r>
                <a:rPr b="1" lang="es" sz="950">
                  <a:solidFill>
                    <a:srgbClr val="FFC10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~5.16%</a:t>
              </a: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(constante)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l">
                <a:spcBef>
                  <a:spcPts val="200"/>
                </a:spcBef>
                <a:spcAft>
                  <a:spcPts val="200"/>
                </a:spcAft>
                <a:buClr>
                  <a:srgbClr val="CCD6F6"/>
                </a:buClr>
                <a:buSzPts val="900"/>
                <a:buFont typeface="Roboto"/>
                <a:buChar char="●"/>
              </a:pP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Métricas: </a:t>
              </a:r>
              <a:r>
                <a:rPr b="1" lang="es" sz="90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Sin cambios</a:t>
              </a: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relevantes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61" name="Google Shape;361;p32"/>
          <p:cNvGrpSpPr/>
          <p:nvPr/>
        </p:nvGrpSpPr>
        <p:grpSpPr>
          <a:xfrm>
            <a:off x="6096000" y="952500"/>
            <a:ext cx="2667000" cy="1428900"/>
            <a:chOff x="6096000" y="952500"/>
            <a:chExt cx="2667000" cy="1428900"/>
          </a:xfrm>
        </p:grpSpPr>
        <p:sp>
          <p:nvSpPr>
            <p:cNvPr id="362" name="Google Shape;362;p32"/>
            <p:cNvSpPr/>
            <p:nvPr/>
          </p:nvSpPr>
          <p:spPr>
            <a:xfrm>
              <a:off x="6096000" y="952500"/>
              <a:ext cx="2667000" cy="1428900"/>
            </a:xfrm>
            <a:prstGeom prst="roundRect">
              <a:avLst>
                <a:gd fmla="val 6666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2"/>
            <p:cNvSpPr txBox="1"/>
            <p:nvPr/>
          </p:nvSpPr>
          <p:spPr>
            <a:xfrm>
              <a:off x="6238875" y="1095375"/>
              <a:ext cx="2381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Interpretación</a:t>
              </a:r>
              <a:endParaRPr b="1" sz="11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El conjunto de anomalías permanece </a:t>
              </a:r>
              <a:r>
                <a:rPr b="1" lang="es" sz="90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estable e independiente</a:t>
              </a: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de la ponderación.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👉 Anomalías bien definidas y dominadas por señales claras.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64" name="Google Shape;364;p32"/>
          <p:cNvGrpSpPr/>
          <p:nvPr/>
        </p:nvGrpSpPr>
        <p:grpSpPr>
          <a:xfrm>
            <a:off x="381000" y="2571750"/>
            <a:ext cx="5524500" cy="1428900"/>
            <a:chOff x="381000" y="2571750"/>
            <a:chExt cx="5524500" cy="1428900"/>
          </a:xfrm>
        </p:grpSpPr>
        <p:sp>
          <p:nvSpPr>
            <p:cNvPr id="365" name="Google Shape;365;p32"/>
            <p:cNvSpPr/>
            <p:nvPr/>
          </p:nvSpPr>
          <p:spPr>
            <a:xfrm>
              <a:off x="381000" y="2571750"/>
              <a:ext cx="5524500" cy="1428900"/>
            </a:xfrm>
            <a:prstGeom prst="roundRect">
              <a:avLst>
                <a:gd fmla="val 6666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2"/>
            <p:cNvSpPr txBox="1"/>
            <p:nvPr/>
          </p:nvSpPr>
          <p:spPr>
            <a:xfrm>
              <a:off x="571500" y="2714625"/>
              <a:ext cx="5143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Observaciòn</a:t>
              </a:r>
              <a:endParaRPr b="1" sz="11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300"/>
                </a:spcAft>
                <a:buNone/>
              </a:pP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El </a:t>
              </a:r>
              <a:r>
                <a:rPr b="1" lang="es" sz="90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score</a:t>
              </a: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se basa en variables binarias y la selección por percentil limita la variabilidad intrínseca. Esto explica la robustez observada frente a cambios en los pesos de las reglas.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67" name="Google Shape;367;p32"/>
          <p:cNvGrpSpPr/>
          <p:nvPr/>
        </p:nvGrpSpPr>
        <p:grpSpPr>
          <a:xfrm>
            <a:off x="6096000" y="2571750"/>
            <a:ext cx="2667000" cy="1428900"/>
            <a:chOff x="6096000" y="2571750"/>
            <a:chExt cx="2667000" cy="1428900"/>
          </a:xfrm>
        </p:grpSpPr>
        <p:sp>
          <p:nvSpPr>
            <p:cNvPr id="368" name="Google Shape;368;p32"/>
            <p:cNvSpPr/>
            <p:nvPr/>
          </p:nvSpPr>
          <p:spPr>
            <a:xfrm>
              <a:off x="6096000" y="2571750"/>
              <a:ext cx="2667000" cy="1428900"/>
            </a:xfrm>
            <a:prstGeom prst="roundRect">
              <a:avLst>
                <a:gd fmla="val 6666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2"/>
            <p:cNvSpPr txBox="1"/>
            <p:nvPr/>
          </p:nvSpPr>
          <p:spPr>
            <a:xfrm>
              <a:off x="6238875" y="2714625"/>
              <a:ext cx="2381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3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 Conclusión</a:t>
              </a:r>
              <a:endParaRPr b="1" sz="13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300"/>
                </a:spcAft>
                <a:buNone/>
              </a:pPr>
              <a:r>
                <a:rPr b="0" lang="es" sz="10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La detección depende de la </a:t>
              </a:r>
              <a:r>
                <a:rPr b="1" lang="es" sz="100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estructura de las señales</a:t>
              </a:r>
              <a:r>
                <a:rPr b="0" lang="es" sz="10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, no de los pesos específicos.</a:t>
              </a:r>
              <a:endParaRPr b="0" sz="10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370" name="Google Shape;370;p32"/>
          <p:cNvPicPr preferRelativeResize="0"/>
          <p:nvPr/>
        </p:nvPicPr>
        <p:blipFill rotWithShape="1">
          <a:blip r:embed="rId4">
            <a:alphaModFix/>
          </a:blip>
          <a:srcRect b="288" l="0" r="0" t="288"/>
          <a:stretch/>
        </p:blipFill>
        <p:spPr>
          <a:xfrm>
            <a:off x="7905750" y="4333875"/>
            <a:ext cx="7620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3"/>
          <p:cNvSpPr txBox="1"/>
          <p:nvPr/>
        </p:nvSpPr>
        <p:spPr>
          <a:xfrm>
            <a:off x="381000" y="2857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Web Scraping de CVEs: Pipeline de Extracción</a:t>
            </a:r>
            <a:endParaRPr b="0" sz="2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375" name="Google Shape;375;p33"/>
          <p:cNvGrpSpPr/>
          <p:nvPr/>
        </p:nvGrpSpPr>
        <p:grpSpPr>
          <a:xfrm>
            <a:off x="381000" y="952500"/>
            <a:ext cx="2667000" cy="1428900"/>
            <a:chOff x="381000" y="952500"/>
            <a:chExt cx="2667000" cy="1428900"/>
          </a:xfrm>
        </p:grpSpPr>
        <p:sp>
          <p:nvSpPr>
            <p:cNvPr id="376" name="Google Shape;376;p33"/>
            <p:cNvSpPr/>
            <p:nvPr/>
          </p:nvSpPr>
          <p:spPr>
            <a:xfrm>
              <a:off x="381000" y="952500"/>
              <a:ext cx="2667000" cy="1428900"/>
            </a:xfrm>
            <a:prstGeom prst="roundRect">
              <a:avLst>
                <a:gd fmla="val 6666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3"/>
            <p:cNvSpPr txBox="1"/>
            <p:nvPr/>
          </p:nvSpPr>
          <p:spPr>
            <a:xfrm>
              <a:off x="523875" y="1095375"/>
              <a:ext cx="2381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Estrategia de Scraping</a:t>
              </a:r>
              <a:endParaRPr b="1" sz="11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s" sz="90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Selenium:</a:t>
              </a: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Render dinámico del sitio cvedetails.com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s" sz="90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BeautifulSoup:</a:t>
              </a: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Parsing eficiente del DOM estructurado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8" name="Google Shape;378;p33"/>
          <p:cNvGrpSpPr/>
          <p:nvPr/>
        </p:nvGrpSpPr>
        <p:grpSpPr>
          <a:xfrm>
            <a:off x="3238500" y="952500"/>
            <a:ext cx="2667000" cy="1428900"/>
            <a:chOff x="3238500" y="952500"/>
            <a:chExt cx="2667000" cy="1428900"/>
          </a:xfrm>
        </p:grpSpPr>
        <p:sp>
          <p:nvSpPr>
            <p:cNvPr id="379" name="Google Shape;379;p33"/>
            <p:cNvSpPr/>
            <p:nvPr/>
          </p:nvSpPr>
          <p:spPr>
            <a:xfrm>
              <a:off x="3238500" y="952500"/>
              <a:ext cx="2667000" cy="1428900"/>
            </a:xfrm>
            <a:prstGeom prst="roundRect">
              <a:avLst>
                <a:gd fmla="val 6666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3"/>
            <p:cNvSpPr txBox="1"/>
            <p:nvPr/>
          </p:nvSpPr>
          <p:spPr>
            <a:xfrm>
              <a:off x="3381375" y="1095375"/>
              <a:ext cx="2381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Diseño Industrial</a:t>
              </a:r>
              <a:endParaRPr b="1" sz="11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CD6F6"/>
                </a:buClr>
                <a:buSzPts val="900"/>
                <a:buFont typeface="Roboto"/>
                <a:buChar char="●"/>
              </a:pP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Navegación paginada automática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CCD6F6"/>
                </a:buClr>
                <a:buSzPts val="900"/>
                <a:buFont typeface="Roboto"/>
                <a:buChar char="●"/>
              </a:pP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Extracción por bloques (data-tsvfield)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CCD6F6"/>
                </a:buClr>
                <a:buSzPts val="900"/>
                <a:buFont typeface="Roboto"/>
                <a:buChar char="●"/>
              </a:pP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Loop continuo hasta fin de resultados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81" name="Google Shape;381;p33"/>
          <p:cNvGrpSpPr/>
          <p:nvPr/>
        </p:nvGrpSpPr>
        <p:grpSpPr>
          <a:xfrm>
            <a:off x="6096000" y="952500"/>
            <a:ext cx="2667000" cy="1428900"/>
            <a:chOff x="6096000" y="952500"/>
            <a:chExt cx="2667000" cy="1428900"/>
          </a:xfrm>
        </p:grpSpPr>
        <p:sp>
          <p:nvSpPr>
            <p:cNvPr id="382" name="Google Shape;382;p33"/>
            <p:cNvSpPr/>
            <p:nvPr/>
          </p:nvSpPr>
          <p:spPr>
            <a:xfrm>
              <a:off x="6096000" y="952500"/>
              <a:ext cx="2667000" cy="1428900"/>
            </a:xfrm>
            <a:prstGeom prst="roundRect">
              <a:avLst>
                <a:gd fmla="val 6666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33"/>
            <p:cNvSpPr txBox="1"/>
            <p:nvPr/>
          </p:nvSpPr>
          <p:spPr>
            <a:xfrm>
              <a:off x="6238875" y="1095375"/>
              <a:ext cx="2381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Robustez Implementada</a:t>
              </a:r>
              <a:endParaRPr b="1" sz="11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CD6F6"/>
                </a:buClr>
                <a:buSzPts val="900"/>
                <a:buFont typeface="Roboto"/>
                <a:buChar char="●"/>
              </a:pP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Reinicio del driver cada N páginas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CCD6F6"/>
                </a:buClr>
                <a:buSzPts val="900"/>
                <a:buFont typeface="Roboto"/>
                <a:buChar char="●"/>
              </a:pP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Manejo de excepciones por página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CCD6F6"/>
                </a:buClr>
                <a:buSzPts val="900"/>
                <a:buFont typeface="Roboto"/>
                <a:buChar char="●"/>
              </a:pP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Delay controlado (sleep) anti-bloqueo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CCD6F6"/>
                </a:buClr>
                <a:buSzPts val="900"/>
                <a:buFont typeface="Roboto"/>
                <a:buChar char="●"/>
              </a:pPr>
              <a:r>
                <a:rPr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Guardado incremental</a:t>
              </a:r>
              <a:endParaRPr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84" name="Google Shape;384;p33"/>
          <p:cNvGrpSpPr/>
          <p:nvPr/>
        </p:nvGrpSpPr>
        <p:grpSpPr>
          <a:xfrm>
            <a:off x="381000" y="2571750"/>
            <a:ext cx="5524500" cy="1714500"/>
            <a:chOff x="381000" y="2571750"/>
            <a:chExt cx="5524500" cy="1714500"/>
          </a:xfrm>
        </p:grpSpPr>
        <p:sp>
          <p:nvSpPr>
            <p:cNvPr id="385" name="Google Shape;385;p33"/>
            <p:cNvSpPr/>
            <p:nvPr/>
          </p:nvSpPr>
          <p:spPr>
            <a:xfrm>
              <a:off x="381000" y="2571750"/>
              <a:ext cx="5524500" cy="1714500"/>
            </a:xfrm>
            <a:prstGeom prst="roundRect">
              <a:avLst>
                <a:gd fmla="val 5555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3"/>
            <p:cNvSpPr txBox="1"/>
            <p:nvPr/>
          </p:nvSpPr>
          <p:spPr>
            <a:xfrm>
              <a:off x="571500" y="2714625"/>
              <a:ext cx="5143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Datos Clave Extraídos</a:t>
              </a:r>
              <a:endParaRPr b="1" sz="11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s" sz="90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CVE ID:</a:t>
              </a: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Identificador único de vulnerabilidad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90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Fecha:</a:t>
              </a: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Timestamp de publicación/modificación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90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CVSS:</a:t>
              </a: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Score de severidad para priorización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90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Summary:</a:t>
              </a: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Texto base para enriquecimiento NLP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i="1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Fuente: cvedetails.com</a:t>
              </a:r>
              <a:endParaRPr b="0" i="1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87" name="Google Shape;387;p33"/>
          <p:cNvSpPr/>
          <p:nvPr/>
        </p:nvSpPr>
        <p:spPr>
          <a:xfrm>
            <a:off x="381000" y="4476750"/>
            <a:ext cx="7143900" cy="428700"/>
          </a:xfrm>
          <a:prstGeom prst="roundRect">
            <a:avLst>
              <a:gd fmla="val 17777" name="adj"/>
            </a:avLst>
          </a:prstGeom>
          <a:solidFill>
            <a:srgbClr val="81D4FA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8" name="Google Shape;388;p33"/>
          <p:cNvPicPr preferRelativeResize="0"/>
          <p:nvPr/>
        </p:nvPicPr>
        <p:blipFill rotWithShape="1">
          <a:blip r:embed="rId4">
            <a:alphaModFix/>
          </a:blip>
          <a:srcRect b="288" l="0" r="0" t="288"/>
          <a:stretch/>
        </p:blipFill>
        <p:spPr>
          <a:xfrm>
            <a:off x="7905750" y="4333875"/>
            <a:ext cx="7620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4"/>
          <p:cNvSpPr txBox="1"/>
          <p:nvPr/>
        </p:nvSpPr>
        <p:spPr>
          <a:xfrm>
            <a:off x="381000" y="2857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0" lang="es"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Enriquecimiento y Pipeline Inteligente</a:t>
            </a:r>
            <a:endParaRPr b="0" sz="2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393" name="Google Shape;393;p34"/>
          <p:cNvGrpSpPr/>
          <p:nvPr/>
        </p:nvGrpSpPr>
        <p:grpSpPr>
          <a:xfrm>
            <a:off x="381000" y="952500"/>
            <a:ext cx="2667000" cy="1428900"/>
            <a:chOff x="381000" y="952500"/>
            <a:chExt cx="2667000" cy="1428900"/>
          </a:xfrm>
        </p:grpSpPr>
        <p:sp>
          <p:nvSpPr>
            <p:cNvPr id="394" name="Google Shape;394;p34"/>
            <p:cNvSpPr/>
            <p:nvPr/>
          </p:nvSpPr>
          <p:spPr>
            <a:xfrm>
              <a:off x="381000" y="952500"/>
              <a:ext cx="2667000" cy="1428900"/>
            </a:xfrm>
            <a:prstGeom prst="roundRect">
              <a:avLst>
                <a:gd fmla="val 6666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4"/>
            <p:cNvSpPr txBox="1"/>
            <p:nvPr/>
          </p:nvSpPr>
          <p:spPr>
            <a:xfrm>
              <a:off x="523875" y="1095375"/>
              <a:ext cx="2381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 Problema</a:t>
              </a:r>
              <a:endParaRPr b="1" sz="11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El scraping devuelve datos incompletos: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CCD6F6"/>
                </a:buClr>
                <a:buSzPts val="900"/>
                <a:buFont typeface="Roboto"/>
                <a:buChar char="●"/>
              </a:pP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Texto no estructurado (Summary)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l">
                <a:spcBef>
                  <a:spcPts val="200"/>
                </a:spcBef>
                <a:spcAft>
                  <a:spcPts val="0"/>
                </a:spcAft>
                <a:buClr>
                  <a:srgbClr val="CCD6F6"/>
                </a:buClr>
                <a:buSzPts val="900"/>
                <a:buFont typeface="Roboto"/>
                <a:buChar char="●"/>
              </a:pP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Falta de vendor/producto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l">
                <a:spcBef>
                  <a:spcPts val="200"/>
                </a:spcBef>
                <a:spcAft>
                  <a:spcPts val="200"/>
                </a:spcAft>
                <a:buClr>
                  <a:srgbClr val="CCD6F6"/>
                </a:buClr>
                <a:buSzPts val="900"/>
                <a:buFont typeface="Roboto"/>
                <a:buChar char="●"/>
              </a:pP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Tipo de vulnerabilidad no normalizado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8500" y="952500"/>
            <a:ext cx="2667000" cy="1428900"/>
            <a:chOff x="3238500" y="952500"/>
            <a:chExt cx="2667000" cy="1428900"/>
          </a:xfrm>
        </p:grpSpPr>
        <p:sp>
          <p:nvSpPr>
            <p:cNvPr id="397" name="Google Shape;397;p34"/>
            <p:cNvSpPr/>
            <p:nvPr/>
          </p:nvSpPr>
          <p:spPr>
            <a:xfrm>
              <a:off x="3238500" y="952500"/>
              <a:ext cx="2667000" cy="1428900"/>
            </a:xfrm>
            <a:prstGeom prst="roundRect">
              <a:avLst>
                <a:gd fmla="val 6666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34"/>
            <p:cNvSpPr txBox="1"/>
            <p:nvPr/>
          </p:nvSpPr>
          <p:spPr>
            <a:xfrm>
              <a:off x="3381375" y="1095375"/>
              <a:ext cx="2381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Clasificación Rápida</a:t>
              </a:r>
              <a:endParaRPr b="1" sz="11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⚙️ </a:t>
              </a:r>
              <a:r>
                <a:rPr b="1" lang="es" sz="90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Solución Híbrida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CCD6F6"/>
                </a:buClr>
                <a:buSzPts val="900"/>
                <a:buFont typeface="Roboto"/>
                <a:buChar char="●"/>
              </a:pPr>
              <a:r>
                <a:rPr b="1" lang="es" sz="90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Embeddings:</a:t>
              </a: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SentenceTransformer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l">
                <a:spcBef>
                  <a:spcPts val="200"/>
                </a:spcBef>
                <a:spcAft>
                  <a:spcPts val="200"/>
                </a:spcAft>
                <a:buClr>
                  <a:srgbClr val="CCD6F6"/>
                </a:buClr>
                <a:buSzPts val="900"/>
                <a:buFont typeface="Roboto"/>
                <a:buChar char="●"/>
              </a:pPr>
              <a:r>
                <a:rPr b="1" lang="es" sz="90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Similaridad Semántica</a:t>
              </a: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para mapeo rápido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99" name="Google Shape;399;p34"/>
          <p:cNvGrpSpPr/>
          <p:nvPr/>
        </p:nvGrpSpPr>
        <p:grpSpPr>
          <a:xfrm>
            <a:off x="6096000" y="952500"/>
            <a:ext cx="2667000" cy="1428900"/>
            <a:chOff x="6096000" y="952500"/>
            <a:chExt cx="2667000" cy="1428900"/>
          </a:xfrm>
        </p:grpSpPr>
        <p:sp>
          <p:nvSpPr>
            <p:cNvPr id="400" name="Google Shape;400;p34"/>
            <p:cNvSpPr/>
            <p:nvPr/>
          </p:nvSpPr>
          <p:spPr>
            <a:xfrm>
              <a:off x="6096000" y="952500"/>
              <a:ext cx="2667000" cy="1428900"/>
            </a:xfrm>
            <a:prstGeom prst="roundRect">
              <a:avLst>
                <a:gd fmla="val 6666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4"/>
            <p:cNvSpPr txBox="1"/>
            <p:nvPr/>
          </p:nvSpPr>
          <p:spPr>
            <a:xfrm>
              <a:off x="6238875" y="1095375"/>
              <a:ext cx="2381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Extracción Precisa</a:t>
              </a:r>
              <a:endParaRPr b="1" sz="11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CCD6F6"/>
                </a:buClr>
                <a:buSzPts val="900"/>
                <a:buFont typeface="Roboto"/>
                <a:buChar char="●"/>
              </a:pPr>
              <a:r>
                <a:rPr b="1" lang="es" sz="90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LLM (Gemini):</a:t>
              </a: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Inferencia para datos complejos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5750" lvl="0" marL="457200" rtl="0" algn="l">
                <a:spcBef>
                  <a:spcPts val="200"/>
                </a:spcBef>
                <a:spcAft>
                  <a:spcPts val="200"/>
                </a:spcAft>
                <a:buClr>
                  <a:srgbClr val="CCD6F6"/>
                </a:buClr>
                <a:buSzPts val="900"/>
                <a:buFont typeface="Roboto"/>
                <a:buChar char="●"/>
              </a:pPr>
              <a:r>
                <a:rPr b="1" lang="es" sz="90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Batch Processing:</a:t>
              </a: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Optimización de llamadas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02" name="Google Shape;402;p34"/>
          <p:cNvGrpSpPr/>
          <p:nvPr/>
        </p:nvGrpSpPr>
        <p:grpSpPr>
          <a:xfrm>
            <a:off x="381000" y="2571750"/>
            <a:ext cx="5524500" cy="1714500"/>
            <a:chOff x="381000" y="2571750"/>
            <a:chExt cx="5524500" cy="1714500"/>
          </a:xfrm>
        </p:grpSpPr>
        <p:sp>
          <p:nvSpPr>
            <p:cNvPr id="403" name="Google Shape;403;p34"/>
            <p:cNvSpPr/>
            <p:nvPr/>
          </p:nvSpPr>
          <p:spPr>
            <a:xfrm>
              <a:off x="381000" y="2571750"/>
              <a:ext cx="5524500" cy="1714500"/>
            </a:xfrm>
            <a:prstGeom prst="roundRect">
              <a:avLst>
                <a:gd fmla="val 5555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4"/>
            <p:cNvSpPr txBox="1"/>
            <p:nvPr/>
          </p:nvSpPr>
          <p:spPr>
            <a:xfrm>
              <a:off x="571500" y="2714625"/>
              <a:ext cx="5143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Optimización &amp; Refinamiento</a:t>
              </a:r>
              <a:endParaRPr b="1" sz="11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s" sz="90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Cache Semántico:</a:t>
              </a: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Evita reprocesar textos similares reduciendo latencia y costos.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1" lang="es" sz="90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Reprocesamiento Selectivo:</a:t>
              </a: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Limpieza profunda de registros con datos faltantes mediante lógica de máscaras (mask_bad).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05" name="Google Shape;405;p34"/>
          <p:cNvGrpSpPr/>
          <p:nvPr/>
        </p:nvGrpSpPr>
        <p:grpSpPr>
          <a:xfrm>
            <a:off x="6096000" y="2571750"/>
            <a:ext cx="2667000" cy="1714500"/>
            <a:chOff x="6096000" y="2571750"/>
            <a:chExt cx="2667000" cy="1714500"/>
          </a:xfrm>
        </p:grpSpPr>
        <p:sp>
          <p:nvSpPr>
            <p:cNvPr id="406" name="Google Shape;406;p34"/>
            <p:cNvSpPr/>
            <p:nvPr/>
          </p:nvSpPr>
          <p:spPr>
            <a:xfrm>
              <a:off x="6096000" y="2571750"/>
              <a:ext cx="2667000" cy="1714500"/>
            </a:xfrm>
            <a:prstGeom prst="roundRect">
              <a:avLst>
                <a:gd fmla="val 5555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4"/>
            <p:cNvSpPr txBox="1"/>
            <p:nvPr/>
          </p:nvSpPr>
          <p:spPr>
            <a:xfrm>
              <a:off x="6238875" y="2714625"/>
              <a:ext cx="2381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 Resultado</a:t>
              </a:r>
              <a:endParaRPr b="1" sz="11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Dataset estructurado y </a:t>
              </a:r>
              <a:r>
                <a:rPr b="1" lang="es" sz="900">
                  <a:solidFill>
                    <a:srgbClr val="FFC107"/>
                  </a:solidFill>
                  <a:latin typeface="Roboto"/>
                  <a:ea typeface="Roboto"/>
                  <a:cs typeface="Roboto"/>
                  <a:sym typeface="Roboto"/>
                </a:rPr>
                <a:t>enriquecido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Alta calidad de datos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s" sz="9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Reducción de costo y latencia</a:t>
              </a:r>
              <a:endParaRPr b="0" sz="9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08" name="Google Shape;408;p34"/>
          <p:cNvSpPr/>
          <p:nvPr/>
        </p:nvSpPr>
        <p:spPr>
          <a:xfrm>
            <a:off x="381000" y="4476750"/>
            <a:ext cx="7143900" cy="428700"/>
          </a:xfrm>
          <a:prstGeom prst="roundRect">
            <a:avLst>
              <a:gd fmla="val 17777" name="adj"/>
            </a:avLst>
          </a:prstGeom>
          <a:solidFill>
            <a:srgbClr val="81D4FA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9" name="Google Shape;409;p34"/>
          <p:cNvPicPr preferRelativeResize="0"/>
          <p:nvPr/>
        </p:nvPicPr>
        <p:blipFill rotWithShape="1">
          <a:blip r:embed="rId4">
            <a:alphaModFix/>
          </a:blip>
          <a:srcRect b="288" l="0" r="0" t="288"/>
          <a:stretch/>
        </p:blipFill>
        <p:spPr>
          <a:xfrm>
            <a:off x="7905750" y="4333875"/>
            <a:ext cx="762000" cy="685800"/>
          </a:xfrm>
          <a:prstGeom prst="roundRect">
            <a:avLst>
              <a:gd fmla="val 1111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5"/>
          <p:cNvSpPr/>
          <p:nvPr/>
        </p:nvSpPr>
        <p:spPr>
          <a:xfrm>
            <a:off x="381000" y="4476750"/>
            <a:ext cx="7143900" cy="428700"/>
          </a:xfrm>
          <a:prstGeom prst="roundRect">
            <a:avLst>
              <a:gd fmla="val 17777" name="adj"/>
            </a:avLst>
          </a:prstGeom>
          <a:solidFill>
            <a:srgbClr val="81D4FA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4" name="Google Shape;414;p35"/>
          <p:cNvPicPr preferRelativeResize="0"/>
          <p:nvPr/>
        </p:nvPicPr>
        <p:blipFill rotWithShape="1">
          <a:blip r:embed="rId4">
            <a:alphaModFix/>
          </a:blip>
          <a:srcRect b="288" l="0" r="0" t="288"/>
          <a:stretch/>
        </p:blipFill>
        <p:spPr>
          <a:xfrm>
            <a:off x="7905750" y="4333875"/>
            <a:ext cx="762000" cy="685800"/>
          </a:xfrm>
          <a:prstGeom prst="roundRect">
            <a:avLst>
              <a:gd fmla="val 11111" name="adj"/>
            </a:avLst>
          </a:prstGeom>
          <a:noFill/>
          <a:ln>
            <a:noFill/>
          </a:ln>
        </p:spPr>
      </p:pic>
      <p:pic>
        <p:nvPicPr>
          <p:cNvPr id="415" name="Google Shape;415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13175" y="0"/>
            <a:ext cx="39176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5"/>
          <p:cNvSpPr txBox="1"/>
          <p:nvPr/>
        </p:nvSpPr>
        <p:spPr>
          <a:xfrm>
            <a:off x="298700" y="211675"/>
            <a:ext cx="3193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u="sng">
                <a:solidFill>
                  <a:schemeClr val="hlink"/>
                </a:solidFill>
                <a:hlinkClick r:id="rId6"/>
              </a:rPr>
              <a:t>Tablero CVES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6"/>
          <p:cNvSpPr/>
          <p:nvPr/>
        </p:nvSpPr>
        <p:spPr>
          <a:xfrm>
            <a:off x="381000" y="4476750"/>
            <a:ext cx="7143900" cy="428700"/>
          </a:xfrm>
          <a:prstGeom prst="roundRect">
            <a:avLst>
              <a:gd fmla="val 17777" name="adj"/>
            </a:avLst>
          </a:prstGeom>
          <a:solidFill>
            <a:srgbClr val="81D4FA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1" name="Google Shape;421;p36"/>
          <p:cNvPicPr preferRelativeResize="0"/>
          <p:nvPr/>
        </p:nvPicPr>
        <p:blipFill rotWithShape="1">
          <a:blip r:embed="rId4">
            <a:alphaModFix/>
          </a:blip>
          <a:srcRect b="288" l="0" r="0" t="288"/>
          <a:stretch/>
        </p:blipFill>
        <p:spPr>
          <a:xfrm>
            <a:off x="7905750" y="4333875"/>
            <a:ext cx="762000" cy="685800"/>
          </a:xfrm>
          <a:prstGeom prst="roundRect">
            <a:avLst>
              <a:gd fmla="val 11111" name="adj"/>
            </a:avLst>
          </a:prstGeom>
          <a:noFill/>
          <a:ln>
            <a:noFill/>
          </a:ln>
        </p:spPr>
      </p:pic>
      <p:sp>
        <p:nvSpPr>
          <p:cNvPr id="422" name="Google Shape;422;p36"/>
          <p:cNvSpPr txBox="1"/>
          <p:nvPr/>
        </p:nvSpPr>
        <p:spPr>
          <a:xfrm>
            <a:off x="3144400" y="2286000"/>
            <a:ext cx="4675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s" sz="2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Muchas gracias!</a:t>
            </a:r>
            <a:endParaRPr b="0" sz="2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7"/>
          <p:cNvSpPr txBox="1"/>
          <p:nvPr/>
        </p:nvSpPr>
        <p:spPr>
          <a:xfrm>
            <a:off x="381000" y="28575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2720">
                <a:solidFill>
                  <a:srgbClr val="E0E0E0"/>
                </a:solidFill>
                <a:latin typeface="Roboto Light"/>
                <a:ea typeface="Roboto Light"/>
                <a:cs typeface="Roboto Light"/>
                <a:sym typeface="Roboto Light"/>
              </a:rPr>
              <a:t>Transformación de Datos e Ingeniería de Atributos</a:t>
            </a:r>
            <a:endParaRPr b="0" sz="2720">
              <a:solidFill>
                <a:srgbClr val="E0E0E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427" name="Google Shape;427;p37"/>
          <p:cNvGrpSpPr/>
          <p:nvPr/>
        </p:nvGrpSpPr>
        <p:grpSpPr>
          <a:xfrm>
            <a:off x="381000" y="1143000"/>
            <a:ext cx="8382000" cy="3238500"/>
            <a:chOff x="381000" y="1143000"/>
            <a:chExt cx="8382000" cy="3238500"/>
          </a:xfrm>
        </p:grpSpPr>
        <p:sp>
          <p:nvSpPr>
            <p:cNvPr id="428" name="Google Shape;428;p37"/>
            <p:cNvSpPr/>
            <p:nvPr/>
          </p:nvSpPr>
          <p:spPr>
            <a:xfrm>
              <a:off x="381000" y="1143000"/>
              <a:ext cx="8382000" cy="3238500"/>
            </a:xfrm>
            <a:prstGeom prst="roundRect">
              <a:avLst>
                <a:gd fmla="val 4411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7"/>
            <p:cNvSpPr txBox="1"/>
            <p:nvPr/>
          </p:nvSpPr>
          <p:spPr>
            <a:xfrm>
              <a:off x="571500" y="1333500"/>
              <a:ext cx="8001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CCD6F6"/>
                </a:buClr>
                <a:buSzPts val="1300"/>
                <a:buFont typeface="Roboto"/>
                <a:buChar char="●"/>
              </a:pPr>
              <a:r>
                <a:rPr b="1" lang="es" sz="13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Preprocesamiento:</a:t>
              </a:r>
              <a:r>
                <a:rPr lang="es" sz="13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Ingesta de logs y ordenamiento cronológico por usuario para reconstruir la línea de tiempo de actividad.</a:t>
              </a:r>
              <a:endParaRPr sz="13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CCD6F6"/>
                </a:buClr>
                <a:buSzPts val="1300"/>
                <a:buFont typeface="Roboto"/>
                <a:buChar char="●"/>
              </a:pPr>
              <a:r>
                <a:rPr b="1" lang="es" sz="13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Codificación Cíclica:</a:t>
              </a:r>
              <a:r>
                <a:rPr lang="es" sz="13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Transformaciones seno/coseno para evitar saltos artificiales entre 23:59 y 00:00 (sin/cos 2π·h/24).</a:t>
              </a:r>
              <a:endParaRPr sz="13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CCD6F6"/>
                </a:buClr>
                <a:buSzPts val="1300"/>
                <a:buFont typeface="Roboto"/>
                <a:buChar char="●"/>
              </a:pPr>
              <a:r>
                <a:rPr b="1" lang="es" sz="13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Velocidad y Frecuencia:</a:t>
              </a:r>
              <a:r>
                <a:rPr lang="es" sz="13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Cálculo de time_diff con log-transform para detectar ráfagas de actividad automatizada.</a:t>
              </a:r>
              <a:endParaRPr sz="13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CCD6F6"/>
                </a:buClr>
                <a:buSzPts val="1300"/>
                <a:buFont typeface="Roboto"/>
                <a:buChar char="●"/>
              </a:pPr>
              <a:r>
                <a:rPr b="1" lang="es" sz="13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Profiling de Rareza:</a:t>
              </a:r>
              <a:r>
                <a:rPr lang="es" sz="13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Métricas de "Rareza de IP/Dispositivo" (Score = 1 - freq) basadas en frecuencia histórica.</a:t>
              </a:r>
              <a:endParaRPr sz="13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CCD6F6"/>
                </a:buClr>
                <a:buSzPts val="1300"/>
                <a:buFont typeface="Roboto"/>
                <a:buChar char="●"/>
              </a:pPr>
              <a:r>
                <a:rPr b="1" lang="es" sz="13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Cambio de Contexto:</a:t>
              </a:r>
              <a:r>
                <a:rPr lang="es" sz="13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Saltos inmediatos entre redes o equipos para detectar robos de sesión o cuentas compartidas.</a:t>
              </a:r>
              <a:endParaRPr sz="13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CCD6F6"/>
                </a:buClr>
                <a:buSzPts val="1300"/>
                <a:buFont typeface="Roboto"/>
                <a:buChar char="●"/>
              </a:pPr>
              <a:r>
                <a:rPr b="1" lang="es" sz="13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Desviación Horaria:</a:t>
              </a:r>
              <a:r>
                <a:rPr lang="es" sz="13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 Distancia euclidiana en espacio circular respecto al centroide horario del usuario.</a:t>
              </a:r>
              <a:endParaRPr sz="13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30" name="Google Shape;430;p37"/>
          <p:cNvSpPr/>
          <p:nvPr/>
        </p:nvSpPr>
        <p:spPr>
          <a:xfrm>
            <a:off x="381000" y="4524375"/>
            <a:ext cx="8382000" cy="381000"/>
          </a:xfrm>
          <a:prstGeom prst="roundRect">
            <a:avLst>
              <a:gd fmla="val 20000" name="adj"/>
            </a:avLst>
          </a:prstGeom>
          <a:solidFill>
            <a:srgbClr val="F44336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1" name="Google Shape;431;p37"/>
          <p:cNvPicPr preferRelativeResize="0"/>
          <p:nvPr/>
        </p:nvPicPr>
        <p:blipFill rotWithShape="1">
          <a:blip r:embed="rId4">
            <a:alphaModFix/>
          </a:blip>
          <a:srcRect b="288" l="0" r="0" t="288"/>
          <a:stretch/>
        </p:blipFill>
        <p:spPr>
          <a:xfrm>
            <a:off x="8067100" y="4230125"/>
            <a:ext cx="952500" cy="8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8"/>
          <p:cNvSpPr txBox="1"/>
          <p:nvPr/>
        </p:nvSpPr>
        <p:spPr>
          <a:xfrm>
            <a:off x="381000" y="3810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0" lang="es" sz="3200">
                <a:solidFill>
                  <a:srgbClr val="E0E0E0"/>
                </a:solidFill>
                <a:latin typeface="Roboto Light"/>
                <a:ea typeface="Roboto Light"/>
                <a:cs typeface="Roboto Light"/>
                <a:sym typeface="Roboto Light"/>
              </a:rPr>
              <a:t>Análisis Exploratorio de Features (EDA)</a:t>
            </a:r>
            <a:endParaRPr b="0" sz="3200">
              <a:solidFill>
                <a:srgbClr val="E0E0E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436" name="Google Shape;436;p38"/>
          <p:cNvGrpSpPr/>
          <p:nvPr/>
        </p:nvGrpSpPr>
        <p:grpSpPr>
          <a:xfrm>
            <a:off x="381000" y="1143037"/>
            <a:ext cx="4286400" cy="2125428"/>
            <a:chOff x="381000" y="1143000"/>
            <a:chExt cx="4286400" cy="3238500"/>
          </a:xfrm>
        </p:grpSpPr>
        <p:sp>
          <p:nvSpPr>
            <p:cNvPr id="437" name="Google Shape;437;p38"/>
            <p:cNvSpPr/>
            <p:nvPr/>
          </p:nvSpPr>
          <p:spPr>
            <a:xfrm>
              <a:off x="381000" y="1143000"/>
              <a:ext cx="4286400" cy="3238500"/>
            </a:xfrm>
            <a:prstGeom prst="roundRect">
              <a:avLst>
                <a:gd fmla="val 4411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38"/>
            <p:cNvSpPr txBox="1"/>
            <p:nvPr/>
          </p:nvSpPr>
          <p:spPr>
            <a:xfrm>
              <a:off x="619125" y="1381125"/>
              <a:ext cx="3810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s" sz="18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 Features Evaluadas</a:t>
              </a:r>
              <a:endParaRPr b="1" sz="18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9" name="Google Shape;439;p38"/>
            <p:cNvSpPr txBox="1"/>
            <p:nvPr/>
          </p:nvSpPr>
          <p:spPr>
            <a:xfrm>
              <a:off x="619125" y="1762125"/>
              <a:ext cx="3810000" cy="17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CCD6F6"/>
                </a:buClr>
                <a:buSzPts val="1100"/>
                <a:buFont typeface="Roboto"/>
                <a:buChar char="●"/>
              </a:pPr>
              <a:r>
                <a:rPr b="1" lang="es" sz="1000">
                  <a:solidFill>
                    <a:srgbClr val="81D4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time_diff_log</a:t>
              </a:r>
              <a:r>
                <a:rPr b="0" lang="es" sz="11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: Tiempo entre logins (escala log)</a:t>
              </a:r>
              <a:endParaRPr b="0" sz="11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CCD6F6"/>
                </a:buClr>
                <a:buSzPts val="1100"/>
                <a:buFont typeface="Roboto"/>
                <a:buChar char="●"/>
              </a:pPr>
              <a:r>
                <a:rPr b="1" lang="es" sz="1000">
                  <a:solidFill>
                    <a:srgbClr val="81D4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ip_rarity</a:t>
              </a:r>
              <a:r>
                <a:rPr b="0" lang="es" sz="11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: Rareza de la dirección IP</a:t>
              </a:r>
              <a:endParaRPr b="0" sz="11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CCD6F6"/>
                </a:buClr>
                <a:buSzPts val="1100"/>
                <a:buFont typeface="Roboto"/>
                <a:buChar char="●"/>
              </a:pPr>
              <a:r>
                <a:rPr b="1" lang="es" sz="1000">
                  <a:solidFill>
                    <a:srgbClr val="81D4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device_rarity</a:t>
              </a:r>
              <a:r>
                <a:rPr b="0" lang="es" sz="11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: Frecuencia de uso del dispositivo</a:t>
              </a:r>
              <a:endParaRPr b="0" sz="11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CCD6F6"/>
                </a:buClr>
                <a:buSzPts val="1100"/>
                <a:buFont typeface="Roboto"/>
                <a:buChar char="●"/>
              </a:pPr>
              <a:r>
                <a:rPr b="1" lang="es" sz="1000">
                  <a:solidFill>
                    <a:srgbClr val="81D4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hour_deviation</a:t>
              </a:r>
              <a:r>
                <a:rPr b="0" lang="es" sz="11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: Desvío del horario habitual</a:t>
              </a:r>
              <a:endParaRPr b="0" sz="11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CCD6F6"/>
                </a:buClr>
                <a:buSzPts val="1100"/>
                <a:buFont typeface="Roboto"/>
                <a:buChar char="●"/>
              </a:pPr>
              <a:r>
                <a:rPr b="1" lang="es" sz="1000">
                  <a:solidFill>
                    <a:srgbClr val="81D4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ip_change</a:t>
              </a:r>
              <a:r>
                <a:rPr b="0" lang="es" sz="11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: Detección de cambio de IP</a:t>
              </a:r>
              <a:endParaRPr b="0" sz="11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CCD6F6"/>
                </a:buClr>
                <a:buSzPts val="1100"/>
                <a:buFont typeface="Roboto"/>
                <a:buChar char="●"/>
              </a:pPr>
              <a:r>
                <a:rPr b="1" lang="es" sz="1000">
                  <a:solidFill>
                    <a:srgbClr val="81D4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device_change</a:t>
              </a:r>
              <a:r>
                <a:rPr b="0" lang="es" sz="11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: Cambio de hardware detectado</a:t>
              </a:r>
              <a:endParaRPr b="0" sz="11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40" name="Google Shape;440;p38"/>
          <p:cNvGrpSpPr/>
          <p:nvPr/>
        </p:nvGrpSpPr>
        <p:grpSpPr>
          <a:xfrm>
            <a:off x="4857750" y="1142976"/>
            <a:ext cx="3905400" cy="1652683"/>
            <a:chOff x="4857750" y="1143000"/>
            <a:chExt cx="3905400" cy="2000100"/>
          </a:xfrm>
        </p:grpSpPr>
        <p:sp>
          <p:nvSpPr>
            <p:cNvPr id="441" name="Google Shape;441;p38"/>
            <p:cNvSpPr/>
            <p:nvPr/>
          </p:nvSpPr>
          <p:spPr>
            <a:xfrm>
              <a:off x="4857750" y="1143000"/>
              <a:ext cx="3905400" cy="2000100"/>
            </a:xfrm>
            <a:prstGeom prst="roundRect">
              <a:avLst>
                <a:gd fmla="val 7142" name="adj"/>
              </a:avLst>
            </a:prstGeom>
            <a:solidFill>
              <a:srgbClr val="112240"/>
            </a:solidFill>
            <a:ln cap="flat" cmpd="sng" w="14300">
              <a:solidFill>
                <a:srgbClr val="81D4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8"/>
            <p:cNvSpPr txBox="1"/>
            <p:nvPr/>
          </p:nvSpPr>
          <p:spPr>
            <a:xfrm>
              <a:off x="5095875" y="1381125"/>
              <a:ext cx="3429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s" sz="1800">
                  <a:solidFill>
                    <a:srgbClr val="81D4FA"/>
                  </a:solidFill>
                  <a:latin typeface="Roboto"/>
                  <a:ea typeface="Roboto"/>
                  <a:cs typeface="Roboto"/>
                  <a:sym typeface="Roboto"/>
                </a:rPr>
                <a:t> Análisis Realizado</a:t>
              </a:r>
              <a:endParaRPr b="1" sz="1800">
                <a:solidFill>
                  <a:srgbClr val="81D4F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3" name="Google Shape;443;p38"/>
            <p:cNvSpPr txBox="1"/>
            <p:nvPr/>
          </p:nvSpPr>
          <p:spPr>
            <a:xfrm>
              <a:off x="5095875" y="1762125"/>
              <a:ext cx="3429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CCD6F6"/>
                </a:buClr>
                <a:buSzPts val="1100"/>
                <a:buFont typeface="Roboto"/>
                <a:buChar char="●"/>
              </a:pPr>
              <a:r>
                <a:rPr b="0" lang="es" sz="11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Estadísticas descriptivas generales</a:t>
              </a:r>
              <a:endParaRPr b="0" sz="11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CCD6F6"/>
                </a:buClr>
                <a:buSzPts val="1100"/>
                <a:buFont typeface="Roboto"/>
                <a:buChar char="●"/>
              </a:pPr>
              <a:r>
                <a:rPr b="0" lang="es" sz="11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Distribución de valores por feature</a:t>
              </a:r>
              <a:endParaRPr b="0" sz="11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CCD6F6"/>
                </a:buClr>
                <a:buSzPts val="1100"/>
                <a:buFont typeface="Roboto"/>
                <a:buChar char="●"/>
              </a:pPr>
              <a:r>
                <a:rPr b="0" lang="es" sz="1100">
                  <a:solidFill>
                    <a:srgbClr val="CCD6F6"/>
                  </a:solidFill>
                  <a:latin typeface="Roboto"/>
                  <a:ea typeface="Roboto"/>
                  <a:cs typeface="Roboto"/>
                  <a:sym typeface="Roboto"/>
                </a:rPr>
                <a:t>Percentiles clave: 1%, 5%, 50%, 95%, 99%</a:t>
              </a:r>
              <a:endParaRPr b="0" sz="1100">
                <a:solidFill>
                  <a:srgbClr val="CCD6F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44" name="Google Shape;444;p38"/>
          <p:cNvSpPr/>
          <p:nvPr/>
        </p:nvSpPr>
        <p:spPr>
          <a:xfrm>
            <a:off x="381000" y="4572000"/>
            <a:ext cx="8382000" cy="381000"/>
          </a:xfrm>
          <a:prstGeom prst="roundRect">
            <a:avLst>
              <a:gd fmla="val 20000" name="adj"/>
            </a:avLst>
          </a:prstGeom>
          <a:solidFill>
            <a:srgbClr val="81D4FA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5" name="Google Shape;445;p38"/>
          <p:cNvPicPr preferRelativeResize="0"/>
          <p:nvPr/>
        </p:nvPicPr>
        <p:blipFill rotWithShape="1">
          <a:blip r:embed="rId4">
            <a:alphaModFix/>
          </a:blip>
          <a:srcRect b="288" l="0" r="0" t="288"/>
          <a:stretch/>
        </p:blipFill>
        <p:spPr>
          <a:xfrm>
            <a:off x="7810500" y="4191000"/>
            <a:ext cx="952500" cy="8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